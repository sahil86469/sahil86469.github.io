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714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1A1714"/>
                </a:solidFill>
                <a:latin typeface="Arial"/>
              </a:rPr>
              <a:t>Accuracy by Activation Function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Accuracy</c:v>
                </c:pt>
              </c:strCache>
            </c:strRef>
          </c:tx>
          <c:spPr>
            <a:solidFill>
              <a:srgbClr val="B84C2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E79-40B4-B4FD-C663CE7DB193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E79-40B4-B4FD-C663CE7DB193}"/>
              </c:ext>
            </c:extLst>
          </c:dPt>
          <c:dPt>
            <c:idx val="2"/>
            <c:invertIfNegative val="0"/>
            <c:bubble3D val="0"/>
            <c:spPr>
              <a:solidFill>
                <a:srgbClr val="AAAAA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E79-40B4-B4FD-C663CE7DB193}"/>
              </c:ext>
            </c:extLst>
          </c:dPt>
          <c:dPt>
            <c:idx val="3"/>
            <c:invertIfNegative val="0"/>
            <c:bubble3D val="0"/>
            <c:spPr>
              <a:solidFill>
                <a:srgbClr val="AAAAA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E79-40B4-B4FD-C663CE7DB193}"/>
              </c:ext>
            </c:extLst>
          </c:dPt>
          <c:dPt>
            <c:idx val="4"/>
            <c:invertIfNegative val="0"/>
            <c:bubble3D val="0"/>
            <c:spPr>
              <a:solidFill>
                <a:srgbClr val="8888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E79-40B4-B4FD-C663CE7DB193}"/>
              </c:ext>
            </c:extLst>
          </c:dPt>
          <c:dPt>
            <c:idx val="5"/>
            <c:invertIfNegative val="0"/>
            <c:bubble3D val="0"/>
            <c:spPr>
              <a:solidFill>
                <a:srgbClr val="8888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E79-40B4-B4FD-C663CE7DB193}"/>
              </c:ext>
            </c:extLst>
          </c:dPt>
          <c:cat>
            <c:strRef>
              <c:f>Sheet1!$A$2:$A$7</c:f>
              <c:strCache>
                <c:ptCount val="6"/>
                <c:pt idx="0">
                  <c:v>ReLU 100ep</c:v>
                </c:pt>
                <c:pt idx="1">
                  <c:v>ReLU 50ep</c:v>
                </c:pt>
                <c:pt idx="2">
                  <c:v>Linear 100ep</c:v>
                </c:pt>
                <c:pt idx="3">
                  <c:v>Linear 50ep</c:v>
                </c:pt>
                <c:pt idx="4">
                  <c:v>LeakyReLU 100ep</c:v>
                </c:pt>
                <c:pt idx="5">
                  <c:v>LeakyReLU 50ep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0.56000000000000005</c:v>
                </c:pt>
                <c:pt idx="1">
                  <c:v>0.53</c:v>
                </c:pt>
                <c:pt idx="2">
                  <c:v>0.5</c:v>
                </c:pt>
                <c:pt idx="3">
                  <c:v>0.5</c:v>
                </c:pt>
                <c:pt idx="4">
                  <c:v>0.52</c:v>
                </c:pt>
                <c:pt idx="5">
                  <c:v>0.52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E79-40B4-B4FD-C663CE7DB1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2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"/>
          <c:min val="0.4"/>
        </c:scaling>
        <c:delete val="0"/>
        <c:axPos val="l"/>
        <c:majorGridlines>
          <c:spPr>
            <a:ln w="6350" cap="flat">
              <a:solidFill>
                <a:srgbClr val="DDD9D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2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2EFE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5734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5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4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457200" y="64008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SAHIL AHAMED SHAIK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13258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1700">
                <a:solidFill>
                  <a:srgbClr val="94A3B8"/>
                </a:solidFill>
                <a:latin typeface="Calibri"/>
              </a:rPr>
              <a:t>UNSW Robotics Master’s Student  ·  AI &amp; Autonomous Systems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627632"/>
            <a:ext cx="8229600" cy="0"/>
          </a:xfrm>
          <a:prstGeom prst="line">
            <a:avLst/>
          </a:prstGeom>
          <a:noFill/>
          <a:ln w="19050">
            <a:solidFill>
              <a:srgbClr val="B84C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457200" y="18745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5+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457200" y="2468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Projects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606040" y="18745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2606040" y="2468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754880" y="18745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4754880" y="2468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Conferences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903720" y="18745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6903720" y="2468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AIP Publication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71800"/>
            <a:ext cx="320040" cy="3200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914400" y="299923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1200" dirty="0">
                <a:solidFill>
                  <a:srgbClr val="E2E8F0"/>
                </a:solidFill>
                <a:latin typeface="Calibri"/>
              </a:rPr>
              <a:t>Master’s in Robotics — UNSW Sydney  |  </a:t>
            </a:r>
            <a:r>
              <a:rPr sz="1200" dirty="0" err="1">
                <a:solidFill>
                  <a:srgbClr val="E2E8F0"/>
                </a:solidFill>
                <a:latin typeface="Calibri"/>
              </a:rPr>
              <a:t>B.Tech</a:t>
            </a:r>
            <a:r>
              <a:rPr sz="1200" dirty="0">
                <a:solidFill>
                  <a:srgbClr val="E2E8F0"/>
                </a:solidFill>
                <a:latin typeface="Calibri"/>
              </a:rPr>
              <a:t> Mechatronics — Hindustan Institute of Technology &amp; Sciences (HITS)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57200" y="3520440"/>
            <a:ext cx="896112" cy="274320"/>
          </a:xfrm>
          <a:prstGeom prst="roundRect">
            <a:avLst>
              <a:gd name="adj" fmla="val 13333"/>
            </a:avLst>
          </a:prstGeom>
          <a:solidFill>
            <a:srgbClr val="B84C2B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457200" y="3538728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1 &amp; 2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1426464" y="3520440"/>
            <a:ext cx="896112" cy="274320"/>
          </a:xfrm>
          <a:prstGeom prst="roundRect">
            <a:avLst>
              <a:gd name="adj" fmla="val 13333"/>
            </a:avLst>
          </a:prstGeom>
          <a:solidFill>
            <a:srgbClr val="B84C2B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1426464" y="3538728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SolidWorks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2395728" y="3520440"/>
            <a:ext cx="896112" cy="274320"/>
          </a:xfrm>
          <a:prstGeom prst="roundRect">
            <a:avLst>
              <a:gd name="adj" fmla="val 13333"/>
            </a:avLst>
          </a:prstGeom>
          <a:solidFill>
            <a:srgbClr val="B84C2B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2395728" y="3538728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3364992" y="3520440"/>
            <a:ext cx="896112" cy="274320"/>
          </a:xfrm>
          <a:prstGeom prst="roundRect">
            <a:avLst>
              <a:gd name="adj" fmla="val 13333"/>
            </a:avLst>
          </a:prstGeom>
          <a:solidFill>
            <a:srgbClr val="B84C2B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3364992" y="3538728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4334256" y="3520440"/>
            <a:ext cx="896112" cy="274320"/>
          </a:xfrm>
          <a:prstGeom prst="roundRect">
            <a:avLst>
              <a:gd name="adj" fmla="val 13333"/>
            </a:avLst>
          </a:prstGeom>
          <a:solidFill>
            <a:srgbClr val="B84C2B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4334256" y="3538728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</a:t>
            </a:r>
            <a:endParaRPr lang="en-US" sz="800" dirty="0"/>
          </a:p>
        </p:txBody>
      </p:sp>
      <p:sp>
        <p:nvSpPr>
          <p:cNvPr id="30" name="Shape 26"/>
          <p:cNvSpPr/>
          <p:nvPr/>
        </p:nvSpPr>
        <p:spPr>
          <a:xfrm>
            <a:off x="5303520" y="3520440"/>
            <a:ext cx="896112" cy="274320"/>
          </a:xfrm>
          <a:prstGeom prst="roundRect">
            <a:avLst>
              <a:gd name="adj" fmla="val 13333"/>
            </a:avLst>
          </a:prstGeom>
          <a:solidFill>
            <a:srgbClr val="B84C2B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7"/>
          <p:cNvSpPr/>
          <p:nvPr/>
        </p:nvSpPr>
        <p:spPr>
          <a:xfrm>
            <a:off x="5303520" y="3538728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ANSYS</a:t>
            </a:r>
            <a:endParaRPr lang="en-US" sz="800" dirty="0"/>
          </a:p>
        </p:txBody>
      </p:sp>
      <p:sp>
        <p:nvSpPr>
          <p:cNvPr id="32" name="Shape 28"/>
          <p:cNvSpPr/>
          <p:nvPr/>
        </p:nvSpPr>
        <p:spPr>
          <a:xfrm>
            <a:off x="6272784" y="3520440"/>
            <a:ext cx="896112" cy="274320"/>
          </a:xfrm>
          <a:prstGeom prst="roundRect">
            <a:avLst>
              <a:gd name="adj" fmla="val 13333"/>
            </a:avLst>
          </a:prstGeom>
          <a:solidFill>
            <a:srgbClr val="B84C2B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6272784" y="3538728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SLAM</a:t>
            </a:r>
            <a:endParaRPr lang="en-US" sz="800" dirty="0"/>
          </a:p>
        </p:txBody>
      </p:sp>
      <p:sp>
        <p:nvSpPr>
          <p:cNvPr id="34" name="Shape 30"/>
          <p:cNvSpPr/>
          <p:nvPr/>
        </p:nvSpPr>
        <p:spPr>
          <a:xfrm>
            <a:off x="7242048" y="3520440"/>
            <a:ext cx="896112" cy="274320"/>
          </a:xfrm>
          <a:prstGeom prst="roundRect">
            <a:avLst>
              <a:gd name="adj" fmla="val 13333"/>
            </a:avLst>
          </a:prstGeom>
          <a:solidFill>
            <a:srgbClr val="B84C2B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1"/>
          <p:cNvSpPr/>
          <p:nvPr/>
        </p:nvSpPr>
        <p:spPr>
          <a:xfrm>
            <a:off x="7242048" y="3538728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AR/VR</a:t>
            </a:r>
            <a:endParaRPr lang="en-US" sz="800" dirty="0"/>
          </a:p>
        </p:txBody>
      </p:sp>
      <p:sp>
        <p:nvSpPr>
          <p:cNvPr id="36" name="Shape 32"/>
          <p:cNvSpPr/>
          <p:nvPr/>
        </p:nvSpPr>
        <p:spPr>
          <a:xfrm>
            <a:off x="8211312" y="3520440"/>
            <a:ext cx="896112" cy="274320"/>
          </a:xfrm>
          <a:prstGeom prst="roundRect">
            <a:avLst>
              <a:gd name="adj" fmla="val 13333"/>
            </a:avLst>
          </a:prstGeom>
          <a:solidFill>
            <a:srgbClr val="B84C2B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3"/>
          <p:cNvSpPr/>
          <p:nvPr/>
        </p:nvSpPr>
        <p:spPr>
          <a:xfrm>
            <a:off x="8211312" y="3538728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MATLAB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471268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sahil86469@gmail.com   ·   linkedin.com/in/sahil-shaik-8bb309219   ·   github.com/sahil86469</a:t>
            </a:r>
            <a:endParaRPr lang="en-US" sz="900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CEBCB240-3C4D-B26A-D3FB-E4EA7E6B84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104" y="22695"/>
            <a:ext cx="1360459" cy="1554810"/>
          </a:xfrm>
          <a:prstGeom prst="ellipse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960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8046720" y="137160"/>
            <a:ext cx="594360" cy="59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Experience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20040" y="1051560"/>
            <a:ext cx="402336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54864" cy="192024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14300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87552" y="111556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Robotics Intern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987552" y="13898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4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Abhyaz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457200" y="164592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hands-on expertise in ROS architecture, topics &amp; launch files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Mastered SolidWorks &amp; Fusion 360 for parametric 3D modeling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Self-directed learning approach to tackle advanced robotics challenges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800600" y="1051560"/>
            <a:ext cx="402336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4800600" y="1051560"/>
            <a:ext cx="54864" cy="192024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114300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68112" y="111556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Intern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468112" y="13898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4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Edgeforce Solutions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4937760" y="164592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UGV path-planning: Move Base (DWA) &amp; custom A* with SLAM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point cloud obstacle detection via LiDAR + camera integration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CBM system design, exoskeleton work &amp; airport tug CAD (PLANSYS2)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320040" y="31546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Deliverables from Edgeforce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320040" y="3456432"/>
            <a:ext cx="2011680" cy="13716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547872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41832" y="3547872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&amp; RViz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514600" y="3456432"/>
            <a:ext cx="2011680" cy="13716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3547872"/>
            <a:ext cx="411480" cy="41148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136392" y="3547872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UGV Physical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4709160" y="3456432"/>
            <a:ext cx="2011680" cy="13716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46320" y="3547872"/>
            <a:ext cx="411480" cy="4114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330952" y="3547872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Tug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Design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903720" y="3456432"/>
            <a:ext cx="2011680" cy="13716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0880" y="3547872"/>
            <a:ext cx="411480" cy="41148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7525512" y="3547872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PLANSYS2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2 Task Planner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960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320040" y="1417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PROJECT  ·  01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20040" y="1664208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Knee Rehabilitation</a:t>
            </a:r>
            <a:endParaRPr lang="en-US" sz="2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320040" y="2697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AI-Augmented Physiotherapy System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" y="3154680"/>
            <a:ext cx="1463040" cy="256032"/>
          </a:xfrm>
          <a:prstGeom prst="rect">
            <a:avLst/>
          </a:prstGeom>
          <a:solidFill>
            <a:srgbClr val="B84C2B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320040" y="317296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SolidWorks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0040" y="3520440"/>
            <a:ext cx="1463040" cy="256032"/>
          </a:xfrm>
          <a:prstGeom prst="rect">
            <a:avLst/>
          </a:prstGeom>
          <a:solidFill>
            <a:srgbClr val="B84C2B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320040" y="353872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ANSYS FEA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20040" y="3886200"/>
            <a:ext cx="1463040" cy="256032"/>
          </a:xfrm>
          <a:prstGeom prst="rect">
            <a:avLst/>
          </a:prstGeom>
          <a:solidFill>
            <a:srgbClr val="B84C2B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320040" y="390448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/ CNN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0040" y="4251960"/>
            <a:ext cx="1463040" cy="256032"/>
          </a:xfrm>
          <a:prstGeom prst="rect">
            <a:avLst/>
          </a:prstGeom>
          <a:solidFill>
            <a:srgbClr val="B84C2B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320040" y="427024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Pending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114800" y="16459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B84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114800" y="384048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physiotherapy robot delivering targeted knee rehabilitation, replacing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 presence with precise 2-DOF arc motion and AI-powered diagnosis.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114800" y="1051560"/>
            <a:ext cx="2286000" cy="1005840"/>
          </a:xfrm>
          <a:prstGeom prst="rect">
            <a:avLst/>
          </a:prstGeom>
          <a:solidFill>
            <a:srgbClr val="F2EFE9"/>
          </a:solidFill>
          <a:ln/>
          <a:effectLst>
            <a:outerShdw blurRad="635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4114800" y="1051560"/>
            <a:ext cx="45720" cy="100584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4279392" y="11430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5+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4279392" y="1600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SolidWorks Designs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583680" y="1051560"/>
            <a:ext cx="2286000" cy="1005840"/>
          </a:xfrm>
          <a:prstGeom prst="rect">
            <a:avLst/>
          </a:prstGeom>
          <a:solidFill>
            <a:srgbClr val="F2EFE9"/>
          </a:solidFill>
          <a:ln/>
          <a:effectLst>
            <a:outerShdw blurRad="635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6583680" y="1051560"/>
            <a:ext cx="45720" cy="100584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6748272" y="11430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748272" y="1600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Prototypes Built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114800" y="2240280"/>
            <a:ext cx="2286000" cy="1005840"/>
          </a:xfrm>
          <a:prstGeom prst="rect">
            <a:avLst/>
          </a:prstGeom>
          <a:solidFill>
            <a:srgbClr val="F2EFE9"/>
          </a:solidFill>
          <a:ln/>
          <a:effectLst>
            <a:outerShdw blurRad="635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Shape 25"/>
          <p:cNvSpPr/>
          <p:nvPr/>
        </p:nvSpPr>
        <p:spPr>
          <a:xfrm>
            <a:off x="4114800" y="2240280"/>
            <a:ext cx="45720" cy="100584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6"/>
          <p:cNvSpPr/>
          <p:nvPr/>
        </p:nvSpPr>
        <p:spPr>
          <a:xfrm>
            <a:off x="4279392" y="23317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4279392" y="2788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Model Accuracy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583680" y="2240280"/>
            <a:ext cx="2286000" cy="1005840"/>
          </a:xfrm>
          <a:prstGeom prst="rect">
            <a:avLst/>
          </a:prstGeom>
          <a:solidFill>
            <a:srgbClr val="F2EFE9"/>
          </a:solidFill>
          <a:ln/>
          <a:effectLst>
            <a:outerShdw blurRad="635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Shape 29"/>
          <p:cNvSpPr/>
          <p:nvPr/>
        </p:nvSpPr>
        <p:spPr>
          <a:xfrm>
            <a:off x="6583680" y="2240280"/>
            <a:ext cx="45720" cy="100584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0"/>
          <p:cNvSpPr/>
          <p:nvPr/>
        </p:nvSpPr>
        <p:spPr>
          <a:xfrm>
            <a:off x="6748272" y="23317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1★</a:t>
            </a:r>
            <a:endParaRPr lang="en-US" sz="2600" dirty="0"/>
          </a:p>
        </p:txBody>
      </p:sp>
      <p:sp>
        <p:nvSpPr>
          <p:cNvPr id="34" name="Text 31"/>
          <p:cNvSpPr/>
          <p:nvPr/>
        </p:nvSpPr>
        <p:spPr>
          <a:xfrm>
            <a:off x="6748272" y="2788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AIP Publication 2023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114800" y="3520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B84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HIGHLIGHTS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4114800" y="37490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ANSYS static structural FEA: max deformation 0.09 m within safe patient limits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(ReLU, 100 epochs) trained across 5 knee osteosis severity classes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at RIACT 2022, RANE 2023 &amp; AIIMS-3.0 — patent filing in progress</a:t>
            </a:r>
            <a:endParaRPr lang="en-US" sz="1050" dirty="0"/>
          </a:p>
        </p:txBody>
      </p:sp>
      <p:pic>
        <p:nvPicPr>
          <p:cNvPr id="37" name="Picture 36" descr="slide20_pic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16" y="70093"/>
            <a:ext cx="1570584" cy="1082084"/>
          </a:xfrm>
          <a:prstGeom prst="rect">
            <a:avLst/>
          </a:prstGeom>
        </p:spPr>
      </p:pic>
      <p:pic>
        <p:nvPicPr>
          <p:cNvPr id="38" name="Picture 37" descr="slide21_pic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4160" y="70093"/>
            <a:ext cx="1969744" cy="10820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960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8046720" y="137160"/>
            <a:ext cx="594360" cy="59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 ·  02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UGV Autonomous Path Planning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20040" y="1024128"/>
            <a:ext cx="41605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320040" y="1024128"/>
            <a:ext cx="54864" cy="329184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484632" y="10972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A: ROS Move Base (DWA)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84632" y="1481328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the ROS navigation stack with Dynamic Window Approach local planner and trajectory planning for obstacle-reactive path following. Integrated global &amp; local cost maps.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4632" y="2340864"/>
            <a:ext cx="3749040" cy="0"/>
          </a:xfrm>
          <a:prstGeom prst="line">
            <a:avLst/>
          </a:prstGeom>
          <a:noFill/>
          <a:ln w="6350">
            <a:solidFill>
              <a:srgbClr val="DDD9D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484632" y="2423160"/>
            <a:ext cx="3840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Point Cloud (LiDAR) for obstacle detection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for region-of-interest targeting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in Gazebo simulation first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physical UGV platform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754880" y="1024128"/>
            <a:ext cx="41605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1"/>
          <p:cNvSpPr/>
          <p:nvPr/>
        </p:nvSpPr>
        <p:spPr>
          <a:xfrm>
            <a:off x="4754880" y="1024128"/>
            <a:ext cx="54864" cy="329184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4919472" y="10972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B: Custom A* + SLAM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919472" y="1481328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bespoke A* pathfinding algorithm with SLAM-based occupancy mapping, offering full control over global and local path generation with waypoint-based static routing.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919472" y="2340864"/>
            <a:ext cx="3749040" cy="0"/>
          </a:xfrm>
          <a:prstGeom prst="line">
            <a:avLst/>
          </a:prstGeom>
          <a:noFill/>
          <a:ln w="6350">
            <a:solidFill>
              <a:srgbClr val="DDD9D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4919472" y="2423160"/>
            <a:ext cx="3840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RViz for 2D/3D map visualization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grid with static waypoints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SLAM for real-time environment mapping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tug extension via PLANSYS2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ROS · Gazebo · RViz · Python · C++ · SLAM · Point Cloud · SolidWorks (Tug Design)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78992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28016"/>
            <a:ext cx="2560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>
                <a:solidFill>
                  <a:srgbClr val="E65226"/>
                </a:solidFill>
                <a:latin typeface="Aptos"/>
              </a:rPr>
              <a:t>PROJECTS   ·   03 &amp;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20624"/>
            <a:ext cx="8138160" cy="4389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Rescue Robotics &amp; Swarm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220724"/>
            <a:ext cx="4169663" cy="3767328"/>
          </a:xfrm>
          <a:prstGeom prst="rect">
            <a:avLst/>
          </a:prstGeom>
          <a:solidFill>
            <a:srgbClr val="E2D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10896" y="1188720"/>
            <a:ext cx="4169663" cy="3767328"/>
          </a:xfrm>
          <a:prstGeom prst="rect">
            <a:avLst/>
          </a:prstGeom>
          <a:solidFill>
            <a:srgbClr val="FFFFFF"/>
          </a:solidFill>
          <a:ln w="10160">
            <a:solidFill>
              <a:srgbClr val="E8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335024"/>
            <a:ext cx="50292" cy="3474720"/>
          </a:xfrm>
          <a:prstGeom prst="rect">
            <a:avLst/>
          </a:prstGeom>
          <a:solidFill>
            <a:srgbClr val="E65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" y="3163824"/>
            <a:ext cx="3474719" cy="26517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500" b="1" dirty="0">
                <a:solidFill>
                  <a:srgbClr val="212121"/>
                </a:solidFill>
                <a:latin typeface="Aptos"/>
              </a:rPr>
              <a:t>Borewell Rescue Robot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3538728"/>
            <a:ext cx="3529583" cy="5120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0" dirty="0">
                <a:solidFill>
                  <a:srgbClr val="625C56"/>
                </a:solidFill>
                <a:latin typeface="Aptos"/>
              </a:rPr>
              <a:t>Child rescue from borewell incidents via soft-gripper robotic system.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4105656"/>
            <a:ext cx="3483863" cy="13533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80" dirty="0">
                <a:solidFill>
                  <a:srgbClr val="212121"/>
                </a:solidFill>
                <a:latin typeface="Aptos"/>
              </a:rPr>
              <a:t>•    Soft grippers to safely extract child without injury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80" dirty="0">
                <a:solidFill>
                  <a:srgbClr val="212121"/>
                </a:solidFill>
                <a:latin typeface="Aptos"/>
              </a:rPr>
              <a:t>•    2 CAD designs created; 1 physical prototype developed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80" dirty="0">
                <a:solidFill>
                  <a:srgbClr val="212121"/>
                </a:solidFill>
                <a:latin typeface="Aptos"/>
              </a:rPr>
              <a:t>•    Focused on simplicity, affordability &amp; rapid deployment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80" dirty="0">
                <a:solidFill>
                  <a:srgbClr val="212121"/>
                </a:solidFill>
                <a:latin typeface="Aptos"/>
              </a:rPr>
              <a:t>•    Market-available components used for reproducibility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80" dirty="0">
                <a:solidFill>
                  <a:srgbClr val="212121"/>
                </a:solidFill>
                <a:latin typeface="Aptos"/>
              </a:rPr>
              <a:t>•    Full SolidWorks modelling with dimensional accuracy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77156" y="1220724"/>
            <a:ext cx="4169663" cy="3767328"/>
          </a:xfrm>
          <a:prstGeom prst="rect">
            <a:avLst/>
          </a:prstGeom>
          <a:solidFill>
            <a:srgbClr val="E2D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645152" y="1188720"/>
            <a:ext cx="4169663" cy="3767328"/>
          </a:xfrm>
          <a:prstGeom prst="rect">
            <a:avLst/>
          </a:prstGeom>
          <a:solidFill>
            <a:srgbClr val="FFFFFF"/>
          </a:solidFill>
          <a:ln w="10160">
            <a:solidFill>
              <a:srgbClr val="E8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45736" y="1335024"/>
            <a:ext cx="50292" cy="3474720"/>
          </a:xfrm>
          <a:prstGeom prst="rect">
            <a:avLst/>
          </a:prstGeom>
          <a:solidFill>
            <a:srgbClr val="E65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99482" y="3165934"/>
            <a:ext cx="3474719" cy="26517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500" b="1" dirty="0">
                <a:solidFill>
                  <a:srgbClr val="212121"/>
                </a:solidFill>
                <a:latin typeface="Aptos"/>
              </a:rPr>
              <a:t>Swarm Robot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72050" y="3540838"/>
            <a:ext cx="3529583" cy="5120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0" dirty="0">
                <a:solidFill>
                  <a:srgbClr val="625C56"/>
                </a:solidFill>
                <a:latin typeface="Aptos"/>
              </a:rPr>
              <a:t>Multi-agent coordination in a virtual environment using </a:t>
            </a:r>
            <a:r>
              <a:rPr sz="1050" b="0" dirty="0" err="1">
                <a:solidFill>
                  <a:srgbClr val="625C56"/>
                </a:solidFill>
                <a:latin typeface="Aptos"/>
              </a:rPr>
              <a:t>Webots</a:t>
            </a:r>
            <a:r>
              <a:rPr sz="1050" b="0" dirty="0">
                <a:solidFill>
                  <a:srgbClr val="625C56"/>
                </a:solidFill>
                <a:latin typeface="Aptos"/>
              </a:rPr>
              <a:t> simulator.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4930" y="4107766"/>
            <a:ext cx="3483863" cy="13533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80" dirty="0">
                <a:solidFill>
                  <a:srgbClr val="212121"/>
                </a:solidFill>
                <a:latin typeface="Aptos"/>
              </a:rPr>
              <a:t>•    Studied swarm algorithms &amp; inter-robot communication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80" dirty="0">
                <a:solidFill>
                  <a:srgbClr val="212121"/>
                </a:solidFill>
                <a:latin typeface="Aptos"/>
              </a:rPr>
              <a:t>•    </a:t>
            </a:r>
            <a:r>
              <a:rPr sz="880" dirty="0" err="1">
                <a:solidFill>
                  <a:srgbClr val="212121"/>
                </a:solidFill>
                <a:latin typeface="Aptos"/>
              </a:rPr>
              <a:t>Webots</a:t>
            </a:r>
            <a:r>
              <a:rPr sz="880" dirty="0">
                <a:solidFill>
                  <a:srgbClr val="212121"/>
                </a:solidFill>
                <a:latin typeface="Aptos"/>
              </a:rPr>
              <a:t> simulator: Python-based controller programming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80" dirty="0">
                <a:solidFill>
                  <a:srgbClr val="212121"/>
                </a:solidFill>
                <a:latin typeface="Aptos"/>
              </a:rPr>
              <a:t>•    Central world node used as communication medium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80" dirty="0">
                <a:solidFill>
                  <a:srgbClr val="212121"/>
                </a:solidFill>
                <a:latin typeface="Aptos"/>
              </a:rPr>
              <a:t>•    Cumulative X-Y plane movement for coordinated motion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80" dirty="0">
                <a:solidFill>
                  <a:srgbClr val="212121"/>
                </a:solidFill>
                <a:latin typeface="Aptos"/>
              </a:rPr>
              <a:t>•    Identified need for interrupt-based obstacle avoidance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800600"/>
            <a:ext cx="411480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750" b="0">
                <a:solidFill>
                  <a:srgbClr val="625C56"/>
                </a:solidFill>
                <a:latin typeface="Aptos"/>
              </a:rPr>
              <a:t>5 / 12</a:t>
            </a:r>
          </a:p>
        </p:txBody>
      </p:sp>
      <p:pic>
        <p:nvPicPr>
          <p:cNvPr id="22" name="Picture 21" descr="image.jpg">
            <a:extLst>
              <a:ext uri="{FF2B5EF4-FFF2-40B4-BE49-F238E27FC236}">
                <a16:creationId xmlns:a16="http://schemas.microsoft.com/office/drawing/2014/main" id="{EDF1FE2E-560B-9C38-9C8D-84F74BA5FF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035" y="1351908"/>
            <a:ext cx="2843784" cy="1510758"/>
          </a:xfrm>
          <a:prstGeom prst="rect">
            <a:avLst/>
          </a:prstGeom>
        </p:spPr>
      </p:pic>
      <p:pic>
        <p:nvPicPr>
          <p:cNvPr id="23" name="Picture 22" descr="image.png">
            <a:extLst>
              <a:ext uri="{FF2B5EF4-FFF2-40B4-BE49-F238E27FC236}">
                <a16:creationId xmlns:a16="http://schemas.microsoft.com/office/drawing/2014/main" id="{4190D583-0A95-DE80-E517-85BC810D137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177" t="8998" r="37790" b="34393"/>
          <a:stretch>
            <a:fillRect/>
          </a:stretch>
        </p:blipFill>
        <p:spPr>
          <a:xfrm>
            <a:off x="5645894" y="1379311"/>
            <a:ext cx="2258387" cy="14971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960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5720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 ·  05 &amp; ADDITIONAL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Sanitization Robot &amp; Other Work</a:t>
            </a:r>
            <a:endParaRPr lang="en-US" sz="2200" dirty="0"/>
          </a:p>
        </p:txBody>
      </p:sp>
      <p:sp>
        <p:nvSpPr>
          <p:cNvPr id="6" name="Rounded Rectangle 5"/>
          <p:cNvSpPr/>
          <p:nvPr/>
        </p:nvSpPr>
        <p:spPr>
          <a:xfrm>
            <a:off x="320040" y="1051560"/>
            <a:ext cx="306324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051560"/>
            <a:ext cx="73152" cy="36118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slide31_pic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130" y="1216152"/>
            <a:ext cx="1566203" cy="1463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4632" y="2834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F2937"/>
                </a:solidFill>
                <a:latin typeface="Calibri"/>
              </a:rPr>
              <a:t>Autonomous Sanitizing Robot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3136391"/>
            <a:ext cx="2743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Prototype for automated shop sanitization during the COVID-19 period.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3474720"/>
            <a:ext cx="2743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4155"/>
                </a:solidFill>
                <a:latin typeface="Calibri"/>
              </a:rPr>
              <a:t>Ultrasonic sensors for obstacle avoidance.</a:t>
            </a:r>
          </a:p>
          <a:p>
            <a:r>
              <a:rPr sz="1200">
                <a:solidFill>
                  <a:srgbClr val="334155"/>
                </a:solidFill>
                <a:latin typeface="Calibri"/>
              </a:rPr>
              <a:t>IR-triggered spray mechanism near shelves.</a:t>
            </a:r>
          </a:p>
          <a:p>
            <a:r>
              <a:rPr sz="1200">
                <a:solidFill>
                  <a:srgbClr val="334155"/>
                </a:solidFill>
                <a:latin typeface="Calibri"/>
              </a:rPr>
              <a:t>Tinkercad-based circuit and code validation.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420624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Load-tested chassis for onboard water tank.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960120"/>
            <a:ext cx="4434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F2937"/>
                </a:solidFill>
                <a:latin typeface="Calibri"/>
              </a:rPr>
              <a:t>Additional Prototyping &amp; Simulation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1225296"/>
            <a:ext cx="4297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Selected screenshots from simulation, planning and perception work.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1536192"/>
            <a:ext cx="193852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slide31_pic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964" y="1609344"/>
            <a:ext cx="1413240" cy="7680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794760" y="2423160"/>
            <a:ext cx="1737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Calibri"/>
              </a:rPr>
              <a:t>Circuit Simulation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596896"/>
            <a:ext cx="1737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Tinkercad wiring and code validation.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1536192"/>
            <a:ext cx="193852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page-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8672" y="1609344"/>
            <a:ext cx="1365504" cy="7680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43600" y="2423160"/>
            <a:ext cx="1737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Calibri"/>
              </a:rPr>
              <a:t>V-REP Kinematics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2596896"/>
            <a:ext cx="1737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Forward kinematics of a 7-DOF robotic arm.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03320" y="3081528"/>
            <a:ext cx="193852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page-14.png"/>
          <p:cNvPicPr>
            <a:picLocks noChangeAspect="1"/>
          </p:cNvPicPr>
          <p:nvPr/>
        </p:nvPicPr>
        <p:blipFill>
          <a:blip r:embed="rId6"/>
          <a:srcRect l="15848" t="14285" r="19249" b="7143"/>
          <a:stretch>
            <a:fillRect/>
          </a:stretch>
        </p:blipFill>
        <p:spPr>
          <a:xfrm>
            <a:off x="3965964" y="3127736"/>
            <a:ext cx="1288397" cy="87733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94760" y="3968496"/>
            <a:ext cx="1737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Calibri"/>
              </a:rPr>
              <a:t>MoveIt Planning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4142232"/>
            <a:ext cx="1737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ROS MoveIt simulation for manipulator motion.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3081528"/>
            <a:ext cx="193852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page-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38672" y="3154680"/>
            <a:ext cx="1365504" cy="76809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0" y="3968496"/>
            <a:ext cx="1737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Calibri"/>
              </a:rPr>
              <a:t>RL &amp; OCR Experiments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142232"/>
            <a:ext cx="1737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Reinforcement learning, OCR and vision prototypes.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960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RECOGNITION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Publications &amp; Presentations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1188720"/>
            <a:ext cx="8503920" cy="1325880"/>
          </a:xfrm>
          <a:prstGeom prst="rect">
            <a:avLst/>
          </a:prstGeom>
          <a:solidFill>
            <a:srgbClr val="131E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64008" cy="132588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123444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Publication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43000" y="1481328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Evaluation of Various Knee Assistive Mechanisms for Rehabilitation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43000" y="18105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AIP Publishing  ·  November 10, 2023</a:t>
            </a:r>
            <a:endParaRPr lang="en-US" sz="1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63040"/>
            <a:ext cx="411480" cy="4114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20040" y="2697480"/>
            <a:ext cx="2724912" cy="1508760"/>
          </a:xfrm>
          <a:prstGeom prst="rect">
            <a:avLst/>
          </a:prstGeom>
          <a:solidFill>
            <a:srgbClr val="131E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320040" y="2697480"/>
            <a:ext cx="64008" cy="1508760"/>
          </a:xfrm>
          <a:prstGeom prst="rect">
            <a:avLst/>
          </a:prstGeom>
          <a:solidFill>
            <a:srgbClr val="C989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502920" y="27889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RIACT 2022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02920" y="318211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Robotics, Instrumentation, Automation &amp; Control Technology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200400" y="2697480"/>
            <a:ext cx="2724912" cy="1508760"/>
          </a:xfrm>
          <a:prstGeom prst="rect">
            <a:avLst/>
          </a:prstGeom>
          <a:solidFill>
            <a:srgbClr val="131E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3200400" y="2697480"/>
            <a:ext cx="64008" cy="1508760"/>
          </a:xfrm>
          <a:prstGeom prst="rect">
            <a:avLst/>
          </a:prstGeom>
          <a:solidFill>
            <a:srgbClr val="C989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5"/>
          <p:cNvSpPr/>
          <p:nvPr/>
        </p:nvSpPr>
        <p:spPr>
          <a:xfrm>
            <a:off x="3383280" y="27889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RANE 2023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3383280" y="318211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Advancements in New Era Engineering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080760" y="2697480"/>
            <a:ext cx="2724912" cy="1508760"/>
          </a:xfrm>
          <a:prstGeom prst="rect">
            <a:avLst/>
          </a:prstGeom>
          <a:solidFill>
            <a:srgbClr val="131E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18"/>
          <p:cNvSpPr/>
          <p:nvPr/>
        </p:nvSpPr>
        <p:spPr>
          <a:xfrm>
            <a:off x="6080760" y="2697480"/>
            <a:ext cx="64008" cy="1508760"/>
          </a:xfrm>
          <a:prstGeom prst="rect">
            <a:avLst/>
          </a:prstGeom>
          <a:solidFill>
            <a:srgbClr val="C989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6263640" y="27889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AIIMS-3.0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6263640" y="318211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Medical Systems — Knee Rehab Robot showcase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320040" y="4343400"/>
            <a:ext cx="8503920" cy="594360"/>
          </a:xfrm>
          <a:prstGeom prst="rect">
            <a:avLst/>
          </a:prstGeom>
          <a:solidFill>
            <a:srgbClr val="B84C2B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434840"/>
            <a:ext cx="320040" cy="32004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914400" y="4453128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application and additional journal submission currently in progress for the knee rehabilitation robot design.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960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8046720" y="137160"/>
            <a:ext cx="594360" cy="59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PROFILE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&amp; Tools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20040" y="1133856"/>
            <a:ext cx="4160520" cy="17556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320040" y="1133856"/>
            <a:ext cx="54864" cy="1755648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1225296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14400" y="124358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Robotics Software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84632" y="1636776"/>
            <a:ext cx="3840480" cy="0"/>
          </a:xfrm>
          <a:prstGeom prst="line">
            <a:avLst/>
          </a:prstGeom>
          <a:noFill/>
          <a:ln w="6350">
            <a:solidFill>
              <a:srgbClr val="DDD9D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8"/>
          <p:cNvSpPr/>
          <p:nvPr/>
        </p:nvSpPr>
        <p:spPr>
          <a:xfrm>
            <a:off x="502920" y="1755648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667512" y="1728216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1 (Noetic)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" y="2093976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667512" y="2066544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2 (Humble)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02920" y="2432304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667512" y="240487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Simulator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2468880" y="1755648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5"/>
          <p:cNvSpPr/>
          <p:nvPr/>
        </p:nvSpPr>
        <p:spPr>
          <a:xfrm>
            <a:off x="2624328" y="1728216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RViz Visualizer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2468880" y="2093976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2624328" y="2066544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MoveIt Motion Planning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2468880" y="2432304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2624328" y="240487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PLANSYS2 Task Planner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4754880" y="1133856"/>
            <a:ext cx="4160520" cy="17556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1"/>
          <p:cNvSpPr/>
          <p:nvPr/>
        </p:nvSpPr>
        <p:spPr>
          <a:xfrm>
            <a:off x="4754880" y="1133856"/>
            <a:ext cx="54864" cy="1755648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1225296"/>
            <a:ext cx="347472" cy="347472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5349240" y="124358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&amp; Simulation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919472" y="1636776"/>
            <a:ext cx="3840480" cy="0"/>
          </a:xfrm>
          <a:prstGeom prst="line">
            <a:avLst/>
          </a:prstGeom>
          <a:noFill/>
          <a:ln w="6350">
            <a:solidFill>
              <a:srgbClr val="DDD9D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4"/>
          <p:cNvSpPr/>
          <p:nvPr/>
        </p:nvSpPr>
        <p:spPr>
          <a:xfrm>
            <a:off x="4937760" y="1755648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5"/>
          <p:cNvSpPr/>
          <p:nvPr/>
        </p:nvSpPr>
        <p:spPr>
          <a:xfrm>
            <a:off x="5102352" y="1728216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SolidWorks (Advanced)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4937760" y="2093976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7"/>
          <p:cNvSpPr/>
          <p:nvPr/>
        </p:nvSpPr>
        <p:spPr>
          <a:xfrm>
            <a:off x="5102352" y="2066544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360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4937760" y="2432304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29"/>
          <p:cNvSpPr/>
          <p:nvPr/>
        </p:nvSpPr>
        <p:spPr>
          <a:xfrm>
            <a:off x="5102352" y="240487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ANSYS (FEA / Structural)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6903720" y="1755648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1"/>
          <p:cNvSpPr/>
          <p:nvPr/>
        </p:nvSpPr>
        <p:spPr>
          <a:xfrm>
            <a:off x="7059168" y="1728216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MATLAB &amp; Simulink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6903720" y="2093976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3"/>
          <p:cNvSpPr/>
          <p:nvPr/>
        </p:nvSpPr>
        <p:spPr>
          <a:xfrm>
            <a:off x="7059168" y="2066544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V-REP / CoppeliaSim</a:t>
            </a:r>
            <a:endParaRPr lang="en-US" sz="1000" dirty="0"/>
          </a:p>
        </p:txBody>
      </p:sp>
      <p:sp>
        <p:nvSpPr>
          <p:cNvPr id="39" name="Shape 34"/>
          <p:cNvSpPr/>
          <p:nvPr/>
        </p:nvSpPr>
        <p:spPr>
          <a:xfrm>
            <a:off x="6903720" y="2432304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5"/>
          <p:cNvSpPr/>
          <p:nvPr/>
        </p:nvSpPr>
        <p:spPr>
          <a:xfrm>
            <a:off x="7059168" y="240487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(AR / VR)</a:t>
            </a:r>
            <a:endParaRPr lang="en-US" sz="1000" dirty="0"/>
          </a:p>
        </p:txBody>
      </p:sp>
      <p:sp>
        <p:nvSpPr>
          <p:cNvPr id="41" name="Shape 36"/>
          <p:cNvSpPr/>
          <p:nvPr/>
        </p:nvSpPr>
        <p:spPr>
          <a:xfrm>
            <a:off x="320040" y="3054096"/>
            <a:ext cx="4160520" cy="17556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Shape 37"/>
          <p:cNvSpPr/>
          <p:nvPr/>
        </p:nvSpPr>
        <p:spPr>
          <a:xfrm>
            <a:off x="320040" y="3054096"/>
            <a:ext cx="54864" cy="1755648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3145536"/>
            <a:ext cx="347472" cy="347472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914400" y="3163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484632" y="3557016"/>
            <a:ext cx="3840480" cy="0"/>
          </a:xfrm>
          <a:prstGeom prst="line">
            <a:avLst/>
          </a:prstGeom>
          <a:noFill/>
          <a:ln w="6350">
            <a:solidFill>
              <a:srgbClr val="DDD9D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0"/>
          <p:cNvSpPr/>
          <p:nvPr/>
        </p:nvSpPr>
        <p:spPr>
          <a:xfrm>
            <a:off x="502920" y="3675888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Text 41"/>
          <p:cNvSpPr/>
          <p:nvPr/>
        </p:nvSpPr>
        <p:spPr>
          <a:xfrm>
            <a:off x="667512" y="3648456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(Primary)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502920" y="4014216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43"/>
          <p:cNvSpPr/>
          <p:nvPr/>
        </p:nvSpPr>
        <p:spPr>
          <a:xfrm>
            <a:off x="667512" y="3986784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000" dirty="0"/>
          </a:p>
        </p:txBody>
      </p:sp>
      <p:sp>
        <p:nvSpPr>
          <p:cNvPr id="50" name="Shape 44"/>
          <p:cNvSpPr/>
          <p:nvPr/>
        </p:nvSpPr>
        <p:spPr>
          <a:xfrm>
            <a:off x="502920" y="4352544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5"/>
          <p:cNvSpPr/>
          <p:nvPr/>
        </p:nvSpPr>
        <p:spPr>
          <a:xfrm>
            <a:off x="667512" y="432511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2 / Keras</a:t>
            </a:r>
            <a:endParaRPr lang="en-US" sz="1000" dirty="0"/>
          </a:p>
        </p:txBody>
      </p:sp>
      <p:sp>
        <p:nvSpPr>
          <p:cNvPr id="52" name="Shape 46"/>
          <p:cNvSpPr/>
          <p:nvPr/>
        </p:nvSpPr>
        <p:spPr>
          <a:xfrm>
            <a:off x="2468880" y="3675888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47"/>
          <p:cNvSpPr/>
          <p:nvPr/>
        </p:nvSpPr>
        <p:spPr>
          <a:xfrm>
            <a:off x="2624328" y="3648456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2468880" y="4014216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Text 49"/>
          <p:cNvSpPr/>
          <p:nvPr/>
        </p:nvSpPr>
        <p:spPr>
          <a:xfrm>
            <a:off x="2624328" y="3986784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&amp; Matplotlib</a:t>
            </a:r>
            <a:endParaRPr lang="en-US" sz="1000" dirty="0"/>
          </a:p>
        </p:txBody>
      </p:sp>
      <p:sp>
        <p:nvSpPr>
          <p:cNvPr id="56" name="Shape 50"/>
          <p:cNvSpPr/>
          <p:nvPr/>
        </p:nvSpPr>
        <p:spPr>
          <a:xfrm>
            <a:off x="2468880" y="4352544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1"/>
          <p:cNvSpPr/>
          <p:nvPr/>
        </p:nvSpPr>
        <p:spPr>
          <a:xfrm>
            <a:off x="2624328" y="432511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C (Arduino)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4754880" y="3054096"/>
            <a:ext cx="4160520" cy="17556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9" name="Shape 53"/>
          <p:cNvSpPr/>
          <p:nvPr/>
        </p:nvSpPr>
        <p:spPr>
          <a:xfrm>
            <a:off x="4754880" y="3054096"/>
            <a:ext cx="54864" cy="1755648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472" y="3145536"/>
            <a:ext cx="347472" cy="347472"/>
          </a:xfrm>
          <a:prstGeom prst="rect">
            <a:avLst/>
          </a:prstGeom>
        </p:spPr>
      </p:pic>
      <p:sp>
        <p:nvSpPr>
          <p:cNvPr id="61" name="Text 54"/>
          <p:cNvSpPr/>
          <p:nvPr/>
        </p:nvSpPr>
        <p:spPr>
          <a:xfrm>
            <a:off x="5349240" y="3163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Specializations</a:t>
            </a:r>
            <a:endParaRPr lang="en-US" sz="1200" dirty="0"/>
          </a:p>
        </p:txBody>
      </p:sp>
      <p:sp>
        <p:nvSpPr>
          <p:cNvPr id="62" name="Shape 55"/>
          <p:cNvSpPr/>
          <p:nvPr/>
        </p:nvSpPr>
        <p:spPr>
          <a:xfrm>
            <a:off x="4919472" y="3557016"/>
            <a:ext cx="3840480" cy="0"/>
          </a:xfrm>
          <a:prstGeom prst="line">
            <a:avLst/>
          </a:prstGeom>
          <a:noFill/>
          <a:ln w="6350">
            <a:solidFill>
              <a:srgbClr val="DDD9D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56"/>
          <p:cNvSpPr/>
          <p:nvPr/>
        </p:nvSpPr>
        <p:spPr>
          <a:xfrm>
            <a:off x="4937760" y="3675888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4" name="Text 57"/>
          <p:cNvSpPr/>
          <p:nvPr/>
        </p:nvSpPr>
        <p:spPr>
          <a:xfrm>
            <a:off x="5102352" y="3648456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SLAM &amp; Path Planning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4937760" y="4014216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6" name="Text 59"/>
          <p:cNvSpPr/>
          <p:nvPr/>
        </p:nvSpPr>
        <p:spPr>
          <a:xfrm>
            <a:off x="5102352" y="3986784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/ OCR</a:t>
            </a:r>
            <a:endParaRPr lang="en-US" sz="1000" dirty="0"/>
          </a:p>
        </p:txBody>
      </p:sp>
      <p:sp>
        <p:nvSpPr>
          <p:cNvPr id="67" name="Shape 60"/>
          <p:cNvSpPr/>
          <p:nvPr/>
        </p:nvSpPr>
        <p:spPr>
          <a:xfrm>
            <a:off x="4937760" y="4352544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8" name="Text 61"/>
          <p:cNvSpPr/>
          <p:nvPr/>
        </p:nvSpPr>
        <p:spPr>
          <a:xfrm>
            <a:off x="5102352" y="432511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000" dirty="0"/>
          </a:p>
        </p:txBody>
      </p:sp>
      <p:sp>
        <p:nvSpPr>
          <p:cNvPr id="69" name="Shape 62"/>
          <p:cNvSpPr/>
          <p:nvPr/>
        </p:nvSpPr>
        <p:spPr>
          <a:xfrm>
            <a:off x="6903720" y="3675888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0" name="Text 63"/>
          <p:cNvSpPr/>
          <p:nvPr/>
        </p:nvSpPr>
        <p:spPr>
          <a:xfrm>
            <a:off x="7059168" y="3648456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Exoskeleton Design</a:t>
            </a:r>
            <a:endParaRPr lang="en-US" sz="1000" dirty="0"/>
          </a:p>
        </p:txBody>
      </p:sp>
      <p:sp>
        <p:nvSpPr>
          <p:cNvPr id="71" name="Shape 64"/>
          <p:cNvSpPr/>
          <p:nvPr/>
        </p:nvSpPr>
        <p:spPr>
          <a:xfrm>
            <a:off x="6903720" y="4014216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2" name="Text 65"/>
          <p:cNvSpPr/>
          <p:nvPr/>
        </p:nvSpPr>
        <p:spPr>
          <a:xfrm>
            <a:off x="7059168" y="3986784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 Robotics</a:t>
            </a:r>
            <a:endParaRPr lang="en-US" sz="1000" dirty="0"/>
          </a:p>
        </p:txBody>
      </p:sp>
      <p:sp>
        <p:nvSpPr>
          <p:cNvPr id="73" name="Shape 66"/>
          <p:cNvSpPr/>
          <p:nvPr/>
        </p:nvSpPr>
        <p:spPr>
          <a:xfrm>
            <a:off x="6903720" y="4352544"/>
            <a:ext cx="91440" cy="91440"/>
          </a:xfrm>
          <a:prstGeom prst="ellipse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4" name="Text 67"/>
          <p:cNvSpPr/>
          <p:nvPr/>
        </p:nvSpPr>
        <p:spPr>
          <a:xfrm>
            <a:off x="7059168" y="432511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Pneumatics (SMC)</a:t>
            </a:r>
            <a:endParaRPr lang="en-US" sz="1000" dirty="0"/>
          </a:p>
        </p:txBody>
      </p:sp>
      <p:sp>
        <p:nvSpPr>
          <p:cNvPr id="75" name="TextBox 74"/>
          <p:cNvSpPr txBox="1"/>
          <p:nvPr/>
        </p:nvSpPr>
        <p:spPr>
          <a:xfrm>
            <a:off x="457200" y="685800"/>
            <a:ext cx="4754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Core software, CAD, programming and specialization areas.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960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8046720" y="137160"/>
            <a:ext cx="594360" cy="59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&amp; DEVELOPMENT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 &amp; Training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20040" y="1097280"/>
            <a:ext cx="2743200" cy="1755648"/>
          </a:xfrm>
          <a:prstGeom prst="rect">
            <a:avLst/>
          </a:prstGeom>
          <a:solidFill>
            <a:srgbClr val="F2EF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320040" y="1097280"/>
            <a:ext cx="54864" cy="1755648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2240280" y="1207008"/>
            <a:ext cx="713232" cy="201168"/>
          </a:xfrm>
          <a:prstGeom prst="rect">
            <a:avLst/>
          </a:prstGeom>
          <a:solidFill>
            <a:srgbClr val="2E7D32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2240280" y="1216152"/>
            <a:ext cx="7132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7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1207008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4632" y="16916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for Beginners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84632" y="1993392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Basics, Motion &amp; OpenCV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84632" y="254203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84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Udemy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3246120" y="1097280"/>
            <a:ext cx="2743200" cy="1755648"/>
          </a:xfrm>
          <a:prstGeom prst="rect">
            <a:avLst/>
          </a:prstGeom>
          <a:solidFill>
            <a:srgbClr val="F2EF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3246120" y="1097280"/>
            <a:ext cx="54864" cy="1755648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5166360" y="1207008"/>
            <a:ext cx="713232" cy="201168"/>
          </a:xfrm>
          <a:prstGeom prst="rect">
            <a:avLst/>
          </a:prstGeom>
          <a:solidFill>
            <a:srgbClr val="2E7D32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4"/>
          <p:cNvSpPr/>
          <p:nvPr/>
        </p:nvSpPr>
        <p:spPr>
          <a:xfrm>
            <a:off x="5166360" y="1216152"/>
            <a:ext cx="7132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75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1207008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410712" y="16916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2.0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3410712" y="1993392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&amp; AI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3410712" y="254203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84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Udemy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6172200" y="1097280"/>
            <a:ext cx="2743200" cy="1755648"/>
          </a:xfrm>
          <a:prstGeom prst="rect">
            <a:avLst/>
          </a:prstGeom>
          <a:solidFill>
            <a:srgbClr val="F2EF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19"/>
          <p:cNvSpPr/>
          <p:nvPr/>
        </p:nvSpPr>
        <p:spPr>
          <a:xfrm>
            <a:off x="6172200" y="1097280"/>
            <a:ext cx="54864" cy="1755648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0"/>
          <p:cNvSpPr/>
          <p:nvPr/>
        </p:nvSpPr>
        <p:spPr>
          <a:xfrm>
            <a:off x="8092440" y="1207008"/>
            <a:ext cx="713232" cy="201168"/>
          </a:xfrm>
          <a:prstGeom prst="rect">
            <a:avLst/>
          </a:prstGeom>
          <a:solidFill>
            <a:srgbClr val="2E7D32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1"/>
          <p:cNvSpPr/>
          <p:nvPr/>
        </p:nvSpPr>
        <p:spPr>
          <a:xfrm>
            <a:off x="8092440" y="1216152"/>
            <a:ext cx="7132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75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1207008"/>
            <a:ext cx="411480" cy="41148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336792" y="16916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to AI &amp; Python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6336792" y="1993392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Basics</a:t>
            </a: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6336792" y="254203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84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Udemy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320040" y="3017520"/>
            <a:ext cx="2743200" cy="1755648"/>
          </a:xfrm>
          <a:prstGeom prst="rect">
            <a:avLst/>
          </a:prstGeom>
          <a:solidFill>
            <a:srgbClr val="F2EF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26"/>
          <p:cNvSpPr/>
          <p:nvPr/>
        </p:nvSpPr>
        <p:spPr>
          <a:xfrm>
            <a:off x="320040" y="3017520"/>
            <a:ext cx="54864" cy="1755648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27"/>
          <p:cNvSpPr/>
          <p:nvPr/>
        </p:nvSpPr>
        <p:spPr>
          <a:xfrm>
            <a:off x="2240280" y="3127248"/>
            <a:ext cx="713232" cy="201168"/>
          </a:xfrm>
          <a:prstGeom prst="rect">
            <a:avLst/>
          </a:prstGeom>
          <a:solidFill>
            <a:srgbClr val="2E7D32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28"/>
          <p:cNvSpPr/>
          <p:nvPr/>
        </p:nvSpPr>
        <p:spPr>
          <a:xfrm>
            <a:off x="2240280" y="3136392"/>
            <a:ext cx="7132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750" dirty="0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" y="3127248"/>
            <a:ext cx="411480" cy="411480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484632" y="36118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MATLAB &amp; Simulink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484632" y="3913632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Onramp Training</a:t>
            </a:r>
            <a:endParaRPr lang="en-US" sz="1050" dirty="0"/>
          </a:p>
        </p:txBody>
      </p:sp>
      <p:sp>
        <p:nvSpPr>
          <p:cNvPr id="38" name="Text 31"/>
          <p:cNvSpPr/>
          <p:nvPr/>
        </p:nvSpPr>
        <p:spPr>
          <a:xfrm>
            <a:off x="484632" y="446227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84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MathWorks</a:t>
            </a:r>
            <a:endParaRPr lang="en-US" sz="900" dirty="0"/>
          </a:p>
        </p:txBody>
      </p:sp>
      <p:sp>
        <p:nvSpPr>
          <p:cNvPr id="39" name="Shape 32"/>
          <p:cNvSpPr/>
          <p:nvPr/>
        </p:nvSpPr>
        <p:spPr>
          <a:xfrm>
            <a:off x="3246120" y="3017520"/>
            <a:ext cx="2743200" cy="1755648"/>
          </a:xfrm>
          <a:prstGeom prst="rect">
            <a:avLst/>
          </a:prstGeom>
          <a:solidFill>
            <a:srgbClr val="F2EF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3"/>
          <p:cNvSpPr/>
          <p:nvPr/>
        </p:nvSpPr>
        <p:spPr>
          <a:xfrm>
            <a:off x="3246120" y="3017520"/>
            <a:ext cx="54864" cy="1755648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4"/>
          <p:cNvSpPr/>
          <p:nvPr/>
        </p:nvSpPr>
        <p:spPr>
          <a:xfrm>
            <a:off x="5166360" y="3127248"/>
            <a:ext cx="713232" cy="201168"/>
          </a:xfrm>
          <a:prstGeom prst="rect">
            <a:avLst/>
          </a:prstGeom>
          <a:solidFill>
            <a:srgbClr val="2E7D32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35"/>
          <p:cNvSpPr/>
          <p:nvPr/>
        </p:nvSpPr>
        <p:spPr>
          <a:xfrm>
            <a:off x="5166360" y="3136392"/>
            <a:ext cx="7132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750" dirty="0"/>
          </a:p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10712" y="3127248"/>
            <a:ext cx="411480" cy="411480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3410712" y="36118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SMC Pneumatics</a:t>
            </a:r>
            <a:endParaRPr lang="en-US" sz="1200" dirty="0"/>
          </a:p>
        </p:txBody>
      </p:sp>
      <p:sp>
        <p:nvSpPr>
          <p:cNvPr id="45" name="Text 37"/>
          <p:cNvSpPr/>
          <p:nvPr/>
        </p:nvSpPr>
        <p:spPr>
          <a:xfrm>
            <a:off x="3410712" y="3913632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3-Day Intensive Training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3410712" y="446227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84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SMC Corporation</a:t>
            </a:r>
            <a:endParaRPr lang="en-US" sz="900" dirty="0"/>
          </a:p>
        </p:txBody>
      </p:sp>
      <p:sp>
        <p:nvSpPr>
          <p:cNvPr id="47" name="Shape 39"/>
          <p:cNvSpPr/>
          <p:nvPr/>
        </p:nvSpPr>
        <p:spPr>
          <a:xfrm>
            <a:off x="6172200" y="3017520"/>
            <a:ext cx="2743200" cy="1755648"/>
          </a:xfrm>
          <a:prstGeom prst="rect">
            <a:avLst/>
          </a:prstGeom>
          <a:solidFill>
            <a:srgbClr val="F2EFE9"/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48" name="Shape 40"/>
          <p:cNvSpPr/>
          <p:nvPr/>
        </p:nvSpPr>
        <p:spPr>
          <a:xfrm>
            <a:off x="6172200" y="3017520"/>
            <a:ext cx="54864" cy="1755648"/>
          </a:xfrm>
          <a:prstGeom prst="rect">
            <a:avLst/>
          </a:prstGeom>
          <a:solidFill>
            <a:srgbClr val="C989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Text 42"/>
          <p:cNvSpPr/>
          <p:nvPr/>
        </p:nvSpPr>
        <p:spPr>
          <a:xfrm>
            <a:off x="8092440" y="3136392"/>
            <a:ext cx="7132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50" dirty="0"/>
          </a:p>
        </p:txBody>
      </p:sp>
      <p:pic>
        <p:nvPicPr>
          <p:cNvPr id="5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3127248"/>
            <a:ext cx="411480" cy="411480"/>
          </a:xfrm>
          <a:prstGeom prst="rect">
            <a:avLst/>
          </a:prstGeom>
        </p:spPr>
      </p:pic>
      <p:sp>
        <p:nvSpPr>
          <p:cNvPr id="52" name="Text 43"/>
          <p:cNvSpPr/>
          <p:nvPr/>
        </p:nvSpPr>
        <p:spPr>
          <a:xfrm>
            <a:off x="6336792" y="36118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200" dirty="0"/>
          </a:p>
        </p:txBody>
      </p:sp>
      <p:sp>
        <p:nvSpPr>
          <p:cNvPr id="53" name="Text 44"/>
          <p:cNvSpPr/>
          <p:nvPr/>
        </p:nvSpPr>
        <p:spPr>
          <a:xfrm>
            <a:off x="6336792" y="3913632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Algorithms</a:t>
            </a:r>
            <a:endParaRPr lang="en-US" sz="1050" dirty="0"/>
          </a:p>
        </p:txBody>
      </p:sp>
      <p:sp>
        <p:nvSpPr>
          <p:cNvPr id="54" name="Text 45"/>
          <p:cNvSpPr/>
          <p:nvPr/>
        </p:nvSpPr>
        <p:spPr>
          <a:xfrm>
            <a:off x="6336792" y="446227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B84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Udemy</a:t>
            </a:r>
            <a:endParaRPr lang="en-US" sz="900" dirty="0"/>
          </a:p>
        </p:txBody>
      </p:sp>
      <p:sp>
        <p:nvSpPr>
          <p:cNvPr id="55" name="TextBox 54"/>
          <p:cNvSpPr txBox="1"/>
          <p:nvPr/>
        </p:nvSpPr>
        <p:spPr>
          <a:xfrm>
            <a:off x="457200" y="649224"/>
            <a:ext cx="4754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Courses and training supporting robotics, AI and simulation.</a:t>
            </a:r>
          </a:p>
        </p:txBody>
      </p:sp>
      <p:sp>
        <p:nvSpPr>
          <p:cNvPr id="56" name="Shape 34">
            <a:extLst>
              <a:ext uri="{FF2B5EF4-FFF2-40B4-BE49-F238E27FC236}">
                <a16:creationId xmlns:a16="http://schemas.microsoft.com/office/drawing/2014/main" id="{1003A041-392C-F978-3D74-9B55783A19A2}"/>
              </a:ext>
            </a:extLst>
          </p:cNvPr>
          <p:cNvSpPr/>
          <p:nvPr/>
        </p:nvSpPr>
        <p:spPr>
          <a:xfrm>
            <a:off x="8156448" y="3108960"/>
            <a:ext cx="713232" cy="201168"/>
          </a:xfrm>
          <a:prstGeom prst="rect">
            <a:avLst/>
          </a:prstGeom>
          <a:solidFill>
            <a:srgbClr val="2E7D32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35">
            <a:extLst>
              <a:ext uri="{FF2B5EF4-FFF2-40B4-BE49-F238E27FC236}">
                <a16:creationId xmlns:a16="http://schemas.microsoft.com/office/drawing/2014/main" id="{87E54F4D-4E69-CA81-E80A-CBF188882093}"/>
              </a:ext>
            </a:extLst>
          </p:cNvPr>
          <p:cNvSpPr/>
          <p:nvPr/>
        </p:nvSpPr>
        <p:spPr>
          <a:xfrm>
            <a:off x="8156448" y="3124200"/>
            <a:ext cx="7132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960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8046720" y="137160"/>
            <a:ext cx="594360" cy="59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KNEE REHAB ROBOT  ·  DEEP DIVE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320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Algorithm: Knee Osteosis Detection</a:t>
            </a:r>
            <a:endParaRPr lang="en-US" sz="22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320040" y="1005840"/>
          <a:ext cx="502920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577840" y="1005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B84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SUMMARY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298448"/>
          <a:ext cx="3246120" cy="170688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Loss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56% 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LeakyReLU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LeakyReLU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D3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5577840" y="3703320"/>
            <a:ext cx="3246120" cy="8229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5577840" y="3703320"/>
            <a:ext cx="54864" cy="82296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7"/>
          <p:cNvSpPr/>
          <p:nvPr/>
        </p:nvSpPr>
        <p:spPr>
          <a:xfrm>
            <a:off x="57150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ReLU with 100 epochs achieved 56% accuracy across 5 severity classes (Normal, Doubtful, Mid, Moderate, Severe). Further gains possible with more training data.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960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5720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BACKGROUND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&amp; Overview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20040" y="2606040"/>
            <a:ext cx="2743200" cy="10515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320040" y="2606040"/>
            <a:ext cx="54864" cy="105156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484632" y="26974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5+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84632" y="3227832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1200">
                <a:solidFill>
                  <a:srgbClr val="64748B"/>
                </a:solidFill>
                <a:latin typeface="Calibri"/>
              </a:rPr>
              <a:t>Robotics Projects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246120" y="2606040"/>
            <a:ext cx="2743200" cy="1051560"/>
          </a:xfrm>
          <a:prstGeom prst="rect">
            <a:avLst/>
          </a:prstGeom>
          <a:solidFill>
            <a:srgbClr val="F2EF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3410712" y="26974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B84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3410712" y="3227832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172200" y="2606040"/>
            <a:ext cx="2743200" cy="10515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6172200" y="2606040"/>
            <a:ext cx="54864" cy="105156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6336792" y="26974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6336792" y="3227832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Conferences Presented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320040" y="3840480"/>
            <a:ext cx="2743200" cy="1051560"/>
          </a:xfrm>
          <a:prstGeom prst="rect">
            <a:avLst/>
          </a:prstGeom>
          <a:solidFill>
            <a:srgbClr val="F2EF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484632" y="393192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B84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25" name="Text 22"/>
          <p:cNvSpPr/>
          <p:nvPr/>
        </p:nvSpPr>
        <p:spPr>
          <a:xfrm>
            <a:off x="484632" y="4462272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246120" y="3840480"/>
            <a:ext cx="2743200" cy="10515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3246120" y="3840480"/>
            <a:ext cx="54864" cy="105156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3410712" y="393192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29" name="Text 26"/>
          <p:cNvSpPr/>
          <p:nvPr/>
        </p:nvSpPr>
        <p:spPr>
          <a:xfrm>
            <a:off x="3410712" y="4462272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172200" y="3840480"/>
            <a:ext cx="2743200" cy="1051560"/>
          </a:xfrm>
          <a:prstGeom prst="rect">
            <a:avLst/>
          </a:prstGeom>
          <a:solidFill>
            <a:srgbClr val="F2EF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8"/>
          <p:cNvSpPr/>
          <p:nvPr/>
        </p:nvSpPr>
        <p:spPr>
          <a:xfrm>
            <a:off x="6336792" y="393192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B84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32" name="Text 29"/>
          <p:cNvSpPr/>
          <p:nvPr/>
        </p:nvSpPr>
        <p:spPr>
          <a:xfrm>
            <a:off x="6336792" y="4462272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1200">
                <a:solidFill>
                  <a:srgbClr val="64748B"/>
                </a:solidFill>
                <a:latin typeface="Calibri"/>
              </a:rPr>
              <a:t>Patent Pending</a:t>
            </a:r>
            <a:endParaRPr lang="en-US" sz="1000" dirty="0"/>
          </a:p>
        </p:txBody>
      </p:sp>
      <p:sp>
        <p:nvSpPr>
          <p:cNvPr id="33" name="Rounded Rectangle 32"/>
          <p:cNvSpPr/>
          <p:nvPr/>
        </p:nvSpPr>
        <p:spPr>
          <a:xfrm>
            <a:off x="320040" y="960120"/>
            <a:ext cx="3886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0040" y="960120"/>
            <a:ext cx="64008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0352" y="1078992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Calibri"/>
              </a:rPr>
              <a:t>Current Master’s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1353312"/>
            <a:ext cx="3429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0F172A"/>
                </a:solidFill>
                <a:latin typeface="Calibri"/>
              </a:rPr>
              <a:t>Master’s in Robotics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" y="170992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UNSW Sydney  ·  Australia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" y="1956816"/>
            <a:ext cx="3429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4748B"/>
                </a:solidFill>
                <a:latin typeface="Calibri"/>
              </a:rPr>
              <a:t>Focus: robotics, autonomous systems, ROS, navigation and manipulation.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07408" y="960120"/>
            <a:ext cx="3886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407408" y="960120"/>
            <a:ext cx="64008" cy="1234440"/>
          </a:xfrm>
          <a:prstGeom prst="rect">
            <a:avLst/>
          </a:prstGeom>
          <a:solidFill>
            <a:srgbClr val="CC5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617720" y="1078992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C5527"/>
                </a:solidFill>
                <a:latin typeface="Calibri"/>
              </a:rPr>
              <a:t>Undergraduate Degree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1353312"/>
            <a:ext cx="3429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F172A"/>
                </a:solidFill>
                <a:latin typeface="Calibri"/>
              </a:rPr>
              <a:t>B.Tech — Mechatronics Engineering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170992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>
                <a:solidFill>
                  <a:srgbClr val="334155"/>
                </a:solidFill>
                <a:latin typeface="Calibri"/>
              </a:rPr>
              <a:t>Hindustan Institute of Technology &amp; Sciences (HITS)  ·  Chennai, India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1956816"/>
            <a:ext cx="3429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4748B"/>
                </a:solidFill>
                <a:latin typeface="Calibri"/>
              </a:rPr>
              <a:t>Foundation in mechanical, electronics, control systems and programming.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B84C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457200" y="4114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E87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CONNECT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658368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Sahil Ahamed Shaik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457200" y="1298448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1150" dirty="0">
                <a:solidFill>
                  <a:srgbClr val="94A3B8"/>
                </a:solidFill>
                <a:latin typeface="Calibri"/>
              </a:rPr>
              <a:t>UNSW Robotics Master’s Student · Open to robotics internships &amp; research roles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609344"/>
            <a:ext cx="5943600" cy="0"/>
          </a:xfrm>
          <a:prstGeom prst="line">
            <a:avLst/>
          </a:prstGeom>
          <a:noFill/>
          <a:ln w="19050">
            <a:solidFill>
              <a:srgbClr val="B84C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6217920" cy="566928"/>
          </a:xfrm>
          <a:prstGeom prst="rect">
            <a:avLst/>
          </a:prstGeom>
          <a:solidFill>
            <a:srgbClr val="131E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116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203911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sahil86469@gmail.com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097280" y="275234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7200" y="3346704"/>
            <a:ext cx="6217920" cy="566928"/>
          </a:xfrm>
          <a:prstGeom prst="rect">
            <a:avLst/>
          </a:prstGeom>
          <a:solidFill>
            <a:srgbClr val="131E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438144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97280" y="3465576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linkedin.com/in/sahil-shaik-8bb309219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457200" y="2670048"/>
            <a:ext cx="6217920" cy="566928"/>
          </a:xfrm>
          <a:prstGeom prst="rect">
            <a:avLst/>
          </a:prstGeom>
          <a:solidFill>
            <a:srgbClr val="131E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761488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97280" y="27889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github.com/sahil86469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457200" y="47548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time.</a:t>
            </a:r>
            <a:endParaRPr lang="en-US" sz="11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E369673-7081-AC78-26CC-380683124B1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104" y="22695"/>
            <a:ext cx="1360459" cy="1554810"/>
          </a:xfrm>
          <a:prstGeom prst="ellipse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</TotalTime>
  <Words>1118</Words>
  <Application>Microsoft Office PowerPoint</Application>
  <PresentationFormat>On-screen Show (16:9)</PresentationFormat>
  <Paragraphs>268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Robotics Portfolio — Sahil Ahamed Shaik</dc:title>
  <dc:subject>PptxGenJS Presentation</dc:subject>
  <dc:creator>Sahil Ahamed Shaik</dc:creator>
  <cp:lastModifiedBy>sahil shaik</cp:lastModifiedBy>
  <cp:revision>3</cp:revision>
  <dcterms:created xsi:type="dcterms:W3CDTF">2026-05-24T00:01:08Z</dcterms:created>
  <dcterms:modified xsi:type="dcterms:W3CDTF">2026-05-24T10:49:47Z</dcterms:modified>
</cp:coreProperties>
</file>