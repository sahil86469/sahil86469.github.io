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71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714"/>
                </a:solidFill>
                <a:latin typeface="Arial"/>
              </a:rPr>
              <a:t>Accuracy by Activation Function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B84C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79-40B4-B4FD-C663CE7DB19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E79-40B4-B4FD-C663CE7DB193}"/>
              </c:ext>
            </c:extLst>
          </c:dPt>
          <c:dPt>
            <c:idx val="2"/>
            <c:invertIfNegative val="0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79-40B4-B4FD-C663CE7DB193}"/>
              </c:ext>
            </c:extLst>
          </c:dPt>
          <c:dPt>
            <c:idx val="3"/>
            <c:invertIfNegative val="0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E79-40B4-B4FD-C663CE7DB193}"/>
              </c:ext>
            </c:extLst>
          </c:dPt>
          <c:dPt>
            <c:idx val="4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E79-40B4-B4FD-C663CE7DB193}"/>
              </c:ext>
            </c:extLst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E79-40B4-B4FD-C663CE7DB193}"/>
              </c:ext>
            </c:extLst>
          </c:dPt>
          <c:cat>
            <c:strRef>
              <c:f>Sheet1!$A$2:$A$7</c:f>
              <c:strCache>
                <c:ptCount val="6"/>
                <c:pt idx="0">
                  <c:v>ReLU 100ep</c:v>
                </c:pt>
                <c:pt idx="1">
                  <c:v>ReLU 50ep</c:v>
                </c:pt>
                <c:pt idx="2">
                  <c:v>Linear 100ep</c:v>
                </c:pt>
                <c:pt idx="3">
                  <c:v>Linear 50ep</c:v>
                </c:pt>
                <c:pt idx="4">
                  <c:v>LeakyReLU 100ep</c:v>
                </c:pt>
                <c:pt idx="5">
                  <c:v>LeakyReLU 50ep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0.56000000000000005</c:v>
                </c:pt>
                <c:pt idx="1">
                  <c:v>0.53</c:v>
                </c:pt>
                <c:pt idx="2">
                  <c:v>0.5</c:v>
                </c:pt>
                <c:pt idx="3">
                  <c:v>0.5</c:v>
                </c:pt>
                <c:pt idx="4">
                  <c:v>0.52</c:v>
                </c:pt>
                <c:pt idx="5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E79-40B4-B4FD-C663CE7DB1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2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4"/>
        </c:scaling>
        <c:delete val="0"/>
        <c:axPos val="l"/>
        <c:majorGridlines>
          <c:spPr>
            <a:ln w="6350" cap="flat">
              <a:solidFill>
                <a:srgbClr val="DDD9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2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EFE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3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AHAMED SHAIK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>
                <a:solidFill>
                  <a:srgbClr val="94A3B8"/>
                </a:solidFill>
                <a:latin typeface="Calibri"/>
              </a:rPr>
              <a:t>UNSW Robotics Master’s Student  ·  AI &amp; Autonomous Systems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8229600" cy="0"/>
          </a:xfrm>
          <a:prstGeom prst="line">
            <a:avLst/>
          </a:prstGeom>
          <a:noFill/>
          <a:ln w="19050">
            <a:solidFill>
              <a:srgbClr val="B84C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5720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606040" y="1874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60604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54880" y="1874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75488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03720" y="1874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90372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Publication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80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29992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E2E8F0"/>
                </a:solidFill>
                <a:latin typeface="Calibri"/>
              </a:rPr>
              <a:t>Master’s in Robotics — UNSW Sydney  |  B.Tech Mechatronics — Hindustan Institute of Technology &amp; Sciences (HITS)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352044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B84C2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457200" y="35387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 &amp; 2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1426464" y="352044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B84C2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426464" y="35387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2395728" y="352044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B84C2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2395728" y="35387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364992" y="352044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B84C2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3364992" y="35387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334256" y="352044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B84C2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4334256" y="35387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5303520" y="352044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B84C2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7"/>
          <p:cNvSpPr/>
          <p:nvPr/>
        </p:nvSpPr>
        <p:spPr>
          <a:xfrm>
            <a:off x="5303520" y="35387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6272784" y="352044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B84C2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6272784" y="35387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7242048" y="352044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B84C2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1"/>
          <p:cNvSpPr/>
          <p:nvPr/>
        </p:nvSpPr>
        <p:spPr>
          <a:xfrm>
            <a:off x="7242048" y="35387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AR/VR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8211312" y="3520440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B84C2B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3"/>
          <p:cNvSpPr/>
          <p:nvPr/>
        </p:nvSpPr>
        <p:spPr>
          <a:xfrm>
            <a:off x="8211312" y="353872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71268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sahil86469@gmail.com   ·   linkedin.com/in/sahil-shaik-8bb309219   ·   github.com/sahil86469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EBCB240-3C4D-B26A-D3FB-E4EA7E6B8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04" y="22695"/>
            <a:ext cx="1360459" cy="155481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960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Experience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105156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320040" y="1051560"/>
            <a:ext cx="54864" cy="192024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43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Intern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87552" y="13898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Abhyaz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16459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hands-on expertise in ROS architecture, topics &amp; launch files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SolidWorks &amp; Fusion 360 for parametric 3D modeling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learning approach to tackle advanced robotics challenges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00600" y="105156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4800600" y="1051560"/>
            <a:ext cx="54864" cy="192024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1430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68112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Intern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468112" y="13898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Edgeforce Solutions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937760" y="16459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UGV path-planning: Move Base (DWA) &amp; custom A* with SLAM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point cloud obstacle detection via LiDAR + camera integration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CBM system design, exoskeleton work &amp; airport tug CAD (PLANSYS2)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20040" y="3154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 from Edgeforce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456432"/>
            <a:ext cx="2011680" cy="13716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4787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" y="35478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&amp; RViz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514600" y="3456432"/>
            <a:ext cx="2011680" cy="13716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3547872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136392" y="35478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UGV Physical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709160" y="3456432"/>
            <a:ext cx="2011680" cy="13716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54787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30952" y="35478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Tug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Design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903720" y="3456432"/>
            <a:ext cx="2011680" cy="13716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0" y="3547872"/>
            <a:ext cx="411480" cy="4114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525512" y="35478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PLANSYS2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Task Planner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960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32004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PROJECT  ·  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166420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Rehabilitation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Physiotherapy System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3154680"/>
            <a:ext cx="1463040" cy="256032"/>
          </a:xfrm>
          <a:prstGeom prst="rect">
            <a:avLst/>
          </a:prstGeom>
          <a:solidFill>
            <a:srgbClr val="B84C2B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320040" y="31729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3520440"/>
            <a:ext cx="1463040" cy="256032"/>
          </a:xfrm>
          <a:prstGeom prst="rect">
            <a:avLst/>
          </a:prstGeom>
          <a:solidFill>
            <a:srgbClr val="B84C2B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20040" y="35387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 FEA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" y="3886200"/>
            <a:ext cx="1463040" cy="256032"/>
          </a:xfrm>
          <a:prstGeom prst="rect">
            <a:avLst/>
          </a:prstGeom>
          <a:solidFill>
            <a:srgbClr val="B84C2B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20040" y="390448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CNN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" y="4251960"/>
            <a:ext cx="1463040" cy="256032"/>
          </a:xfrm>
          <a:prstGeom prst="rect">
            <a:avLst/>
          </a:prstGeom>
          <a:solidFill>
            <a:srgbClr val="B84C2B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320040" y="427024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Pending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114800" y="164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0" y="38404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physiotherapy robot delivering targeted knee rehabilitation, replacing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presence with precise 2-DOF arc motion and AI-powered diagnosis.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0" y="1051560"/>
            <a:ext cx="2286000" cy="1005840"/>
          </a:xfrm>
          <a:prstGeom prst="rect">
            <a:avLst/>
          </a:prstGeom>
          <a:solidFill>
            <a:srgbClr val="F2EFE9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4114800" y="1051560"/>
            <a:ext cx="45720" cy="100584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279392" y="1143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279392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Designs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83680" y="1051560"/>
            <a:ext cx="2286000" cy="1005840"/>
          </a:xfrm>
          <a:prstGeom prst="rect">
            <a:avLst/>
          </a:prstGeom>
          <a:solidFill>
            <a:srgbClr val="F2EFE9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6583680" y="1051560"/>
            <a:ext cx="45720" cy="100584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748272" y="1143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748272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Prototypes Built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114800" y="2240280"/>
            <a:ext cx="2286000" cy="1005840"/>
          </a:xfrm>
          <a:prstGeom prst="rect">
            <a:avLst/>
          </a:prstGeom>
          <a:solidFill>
            <a:srgbClr val="F2EFE9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4114800" y="2240280"/>
            <a:ext cx="45720" cy="100584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4279392" y="2331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4279392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Accuracy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583680" y="2240280"/>
            <a:ext cx="2286000" cy="1005840"/>
          </a:xfrm>
          <a:prstGeom prst="rect">
            <a:avLst/>
          </a:prstGeom>
          <a:solidFill>
            <a:srgbClr val="F2EFE9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583680" y="2240280"/>
            <a:ext cx="45720" cy="100584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748272" y="2331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1★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6748272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Publication 2023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11480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114800" y="37490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 static structural FEA: max deformation 0.09 m within safe patient limits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(ReLU, 100 epochs) trained across 5 knee osteosis severity classes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at RIACT 2022, RANE 2023 &amp; AIIMS-3.0 — patent filing in progress</a:t>
            </a:r>
            <a:endParaRPr lang="en-US" sz="1050" dirty="0"/>
          </a:p>
        </p:txBody>
      </p:sp>
      <p:pic>
        <p:nvPicPr>
          <p:cNvPr id="37" name="Picture 36" descr="slide20_pic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6" y="70093"/>
            <a:ext cx="1570584" cy="1082084"/>
          </a:xfrm>
          <a:prstGeom prst="rect">
            <a:avLst/>
          </a:prstGeom>
        </p:spPr>
      </p:pic>
      <p:pic>
        <p:nvPicPr>
          <p:cNvPr id="38" name="Picture 37" descr="slide21_pic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160" y="70093"/>
            <a:ext cx="1969744" cy="10820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960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·  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UGV Autonomous Path Planning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1024128"/>
            <a:ext cx="4160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320040" y="1024128"/>
            <a:ext cx="54864" cy="329184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84632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A: ROS Move Base (DWA)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84632" y="14813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ROS navigation stack with Dynamic Window Approach local planner and trajectory planning for obstacle-reactive path following. Integrated global &amp; local cost maps.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" y="2340864"/>
            <a:ext cx="3749040" cy="0"/>
          </a:xfrm>
          <a:prstGeom prst="line">
            <a:avLst/>
          </a:prstGeom>
          <a:noFill/>
          <a:ln w="6350">
            <a:solidFill>
              <a:srgbClr val="DD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84632" y="242316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Point Cloud (LiDAR) for obstacle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for region-of-interest targeting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Gazebo simulation first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physical UGV platform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1024128"/>
            <a:ext cx="4160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754880" y="1024128"/>
            <a:ext cx="54864" cy="329184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919472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B: Custom A* + SLAM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19472" y="14813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bespoke A* pathfinding algorithm with SLAM-based occupancy mapping, offering full control over global and local path generation with waypoint-based static routing.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919472" y="2340864"/>
            <a:ext cx="3749040" cy="0"/>
          </a:xfrm>
          <a:prstGeom prst="line">
            <a:avLst/>
          </a:prstGeom>
          <a:noFill/>
          <a:ln w="6350">
            <a:solidFill>
              <a:srgbClr val="DD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4919472" y="242316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 for 2D/3D map visualization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grid with static waypoints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for real-time environment mapping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tug extension via PLANSYS2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ROS · Gazebo · RViz · Python · C++ · SLAM · Point Cloud · SolidWorks (Tug Design)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28016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E65226"/>
                </a:solidFill>
                <a:latin typeface="Aptos"/>
              </a:rPr>
              <a:t>PROJECTS   ·   03 &amp;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20624"/>
            <a:ext cx="813816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Rescue Robotics &amp; Swarm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" y="1220724"/>
            <a:ext cx="4169663" cy="3767328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0896" y="1188720"/>
            <a:ext cx="4169663" cy="37673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335024"/>
            <a:ext cx="50292" cy="3474720"/>
          </a:xfrm>
          <a:prstGeom prst="rect">
            <a:avLst/>
          </a:prstGeom>
          <a:solidFill>
            <a:srgbClr val="E65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163824"/>
            <a:ext cx="3474719" cy="2651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 dirty="0">
                <a:solidFill>
                  <a:srgbClr val="212121"/>
                </a:solidFill>
                <a:latin typeface="Aptos"/>
              </a:rPr>
              <a:t>Borewell Rescue Robot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3538728"/>
            <a:ext cx="3529583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 dirty="0">
                <a:solidFill>
                  <a:srgbClr val="625C56"/>
                </a:solidFill>
                <a:latin typeface="Aptos"/>
              </a:rPr>
              <a:t>Child rescue from borewell incidents via soft-gripper robotic 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4105656"/>
            <a:ext cx="3483863" cy="1353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Soft grippers to safely extract child without injury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2 CAD designs created; 1 physical prototype developed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Focused on simplicity, affordability &amp; rapid deployment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Market-available components used for reproducibility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Full SolidWorks modelling with dimensional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7156" y="1220724"/>
            <a:ext cx="4169663" cy="3767328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45152" y="1188720"/>
            <a:ext cx="4169663" cy="37673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1335024"/>
            <a:ext cx="50292" cy="3474720"/>
          </a:xfrm>
          <a:prstGeom prst="rect">
            <a:avLst/>
          </a:prstGeom>
          <a:solidFill>
            <a:srgbClr val="E65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99482" y="3165934"/>
            <a:ext cx="3474719" cy="2651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 dirty="0">
                <a:solidFill>
                  <a:srgbClr val="212121"/>
                </a:solidFill>
                <a:latin typeface="Aptos"/>
              </a:rPr>
              <a:t>Swarm Robot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2050" y="3540838"/>
            <a:ext cx="3529583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 dirty="0">
                <a:solidFill>
                  <a:srgbClr val="625C56"/>
                </a:solidFill>
                <a:latin typeface="Aptos"/>
              </a:rPr>
              <a:t>Multi-agent coordination in a virtual environment using </a:t>
            </a:r>
            <a:r>
              <a:rPr sz="1050" b="0" dirty="0" err="1">
                <a:solidFill>
                  <a:srgbClr val="625C56"/>
                </a:solidFill>
                <a:latin typeface="Aptos"/>
              </a:rPr>
              <a:t>Webots</a:t>
            </a:r>
            <a:r>
              <a:rPr sz="1050" b="0" dirty="0">
                <a:solidFill>
                  <a:srgbClr val="625C56"/>
                </a:solidFill>
                <a:latin typeface="Aptos"/>
              </a:rPr>
              <a:t> simulator.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4930" y="4107766"/>
            <a:ext cx="3483863" cy="1353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Studied swarm algorithms &amp; inter-robot communication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</a:t>
            </a:r>
            <a:r>
              <a:rPr sz="880" dirty="0" err="1">
                <a:solidFill>
                  <a:srgbClr val="212121"/>
                </a:solidFill>
                <a:latin typeface="Aptos"/>
              </a:rPr>
              <a:t>Webots</a:t>
            </a:r>
            <a:r>
              <a:rPr sz="880" dirty="0">
                <a:solidFill>
                  <a:srgbClr val="212121"/>
                </a:solidFill>
                <a:latin typeface="Aptos"/>
              </a:rPr>
              <a:t> simulator: Python-based controller programming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Central world node used as communication medium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Cumulative X-Y plane movement for coordinated motion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80" dirty="0">
                <a:solidFill>
                  <a:srgbClr val="212121"/>
                </a:solidFill>
                <a:latin typeface="Aptos"/>
              </a:rPr>
              <a:t>•    Identified need for interrupt-based obstacle avoidance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800600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25C56"/>
                </a:solidFill>
                <a:latin typeface="Aptos"/>
              </a:rPr>
              <a:t>5 / 12</a:t>
            </a:r>
          </a:p>
        </p:txBody>
      </p:sp>
      <p:pic>
        <p:nvPicPr>
          <p:cNvPr id="22" name="Picture 21" descr="image.jpg">
            <a:extLst>
              <a:ext uri="{FF2B5EF4-FFF2-40B4-BE49-F238E27FC236}">
                <a16:creationId xmlns:a16="http://schemas.microsoft.com/office/drawing/2014/main" id="{EDF1FE2E-560B-9C38-9C8D-84F74BA5F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35" y="1351908"/>
            <a:ext cx="2843784" cy="1510758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4190D583-0A95-DE80-E517-85BC810D13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77" t="8998" r="37790" b="34393"/>
          <a:stretch>
            <a:fillRect/>
          </a:stretch>
        </p:blipFill>
        <p:spPr>
          <a:xfrm>
            <a:off x="5645894" y="1379311"/>
            <a:ext cx="2258387" cy="1497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960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 ·  05 &amp; ADDITIONAL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 Robot &amp; Other Work</a:t>
            </a:r>
            <a:endParaRPr lang="en-US" sz="2200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051560"/>
            <a:ext cx="30632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73152" cy="3611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lide31_pic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30" y="1216152"/>
            <a:ext cx="1566203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" y="2834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2937"/>
                </a:solidFill>
                <a:latin typeface="Calibri"/>
              </a:rPr>
              <a:t>Autonomous Sanitizing Robot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136391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Prototype for automated shop sanitization during the COVID-19 period.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474720"/>
            <a:ext cx="2743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4155"/>
                </a:solidFill>
                <a:latin typeface="Calibri"/>
              </a:rPr>
              <a:t>Ultrasonic sensors for obstacle avoidance.</a:t>
            </a:r>
          </a:p>
          <a:p>
            <a:r>
              <a:rPr sz="1200">
                <a:solidFill>
                  <a:srgbClr val="334155"/>
                </a:solidFill>
                <a:latin typeface="Calibri"/>
              </a:rPr>
              <a:t>IR-triggered spray mechanism near shelves.</a:t>
            </a:r>
          </a:p>
          <a:p>
            <a:r>
              <a:rPr sz="1200">
                <a:solidFill>
                  <a:srgbClr val="334155"/>
                </a:solidFill>
                <a:latin typeface="Calibri"/>
              </a:rPr>
              <a:t>Tinkercad-based circuit and code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42062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Load-tested chassis for onboard water tank.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96012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2937"/>
                </a:solidFill>
                <a:latin typeface="Calibri"/>
              </a:rPr>
              <a:t>Additional Prototyping &amp; Simulation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225296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Selected screenshots from simulation, planning and perception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1536192"/>
            <a:ext cx="193852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lide31_pic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964" y="1609344"/>
            <a:ext cx="1413240" cy="7680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94760" y="24231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7"/>
                </a:solidFill>
                <a:latin typeface="Calibri"/>
              </a:rPr>
              <a:t>Circuit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596896"/>
            <a:ext cx="1737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Calibri"/>
              </a:rPr>
              <a:t>Tinkercad wiring and code validation.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536192"/>
            <a:ext cx="193852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page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672" y="1609344"/>
            <a:ext cx="1365504" cy="7680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43600" y="24231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7"/>
                </a:solidFill>
                <a:latin typeface="Calibri"/>
              </a:rPr>
              <a:t>V-REP Kinematics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596896"/>
            <a:ext cx="1737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Calibri"/>
              </a:rPr>
              <a:t>Forward kinematics of a 7-DOF robotic arm.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3081528"/>
            <a:ext cx="193852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page-14.png"/>
          <p:cNvPicPr>
            <a:picLocks noChangeAspect="1"/>
          </p:cNvPicPr>
          <p:nvPr/>
        </p:nvPicPr>
        <p:blipFill>
          <a:blip r:embed="rId6"/>
          <a:srcRect l="15848" t="14285" r="19249" b="7143"/>
          <a:stretch>
            <a:fillRect/>
          </a:stretch>
        </p:blipFill>
        <p:spPr>
          <a:xfrm>
            <a:off x="3965964" y="3127736"/>
            <a:ext cx="1288397" cy="8773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94760" y="3968496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7"/>
                </a:solidFill>
                <a:latin typeface="Calibri"/>
              </a:rPr>
              <a:t>MoveIt 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142232"/>
            <a:ext cx="1737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Calibri"/>
              </a:rPr>
              <a:t>ROS MoveIt simulation for manipulator motion.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3081528"/>
            <a:ext cx="193852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page-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8672" y="3154680"/>
            <a:ext cx="1365504" cy="7680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0" y="3968496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7"/>
                </a:solidFill>
                <a:latin typeface="Calibri"/>
              </a:rPr>
              <a:t>RL &amp; OCR Experiments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142232"/>
            <a:ext cx="1737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Calibri"/>
              </a:rPr>
              <a:t>Reinforcement learning, OCR and vision prototypes.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960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RECOGNITION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&amp; Presentations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132588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64008" cy="132588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2344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Publication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" y="14813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Evaluation of Various Knee Assistive Mechanisms for Rehabilitation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18105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Publishing  ·  November 10, 2023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463040"/>
            <a:ext cx="411480" cy="411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2697480"/>
            <a:ext cx="2724912" cy="150876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320040" y="2697480"/>
            <a:ext cx="64008" cy="1508760"/>
          </a:xfrm>
          <a:prstGeom prst="rect">
            <a:avLst/>
          </a:prstGeom>
          <a:solidFill>
            <a:srgbClr val="C989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50292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RIACT 2022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" y="31821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Robotics, Instrumentation, Automation &amp; Control Technology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0" y="2697480"/>
            <a:ext cx="2724912" cy="150876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3200400" y="2697480"/>
            <a:ext cx="64008" cy="1508760"/>
          </a:xfrm>
          <a:prstGeom prst="rect">
            <a:avLst/>
          </a:prstGeom>
          <a:solidFill>
            <a:srgbClr val="C989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338328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RANE 2023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383280" y="31821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Advancements in New Era Engineering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80760" y="2697480"/>
            <a:ext cx="2724912" cy="150876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6080760" y="2697480"/>
            <a:ext cx="64008" cy="1508760"/>
          </a:xfrm>
          <a:prstGeom prst="rect">
            <a:avLst/>
          </a:prstGeom>
          <a:solidFill>
            <a:srgbClr val="C989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626364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AIIMS-3.0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263640" y="31821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Systems — Knee Rehab Robot showcase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B84C2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3484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4400" y="44531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application and additional journal submission currently in progress for the knee rehabilitation robot design.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960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PROFILE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Tools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1133856"/>
            <a:ext cx="416052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320040" y="1133856"/>
            <a:ext cx="54864" cy="1755648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22529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2435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Software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4632" y="1636776"/>
            <a:ext cx="3840480" cy="0"/>
          </a:xfrm>
          <a:prstGeom prst="line">
            <a:avLst/>
          </a:prstGeom>
          <a:noFill/>
          <a:ln w="6350">
            <a:solidFill>
              <a:srgbClr val="DD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502920" y="1755648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667512" y="172821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1 (Noetic)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093976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67512" y="206654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(Humble)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2432304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67512" y="24048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Simulator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468880" y="1755648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2624328" y="172821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 Visualizer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468880" y="2093976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2624328" y="206654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Motion Planning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468880" y="2432304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2624328" y="24048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PLANSYS2 Task Planner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54880" y="1133856"/>
            <a:ext cx="416052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4754880" y="1133856"/>
            <a:ext cx="54864" cy="1755648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225296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49240" y="12435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&amp; Simulation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919472" y="1636776"/>
            <a:ext cx="3840480" cy="0"/>
          </a:xfrm>
          <a:prstGeom prst="line">
            <a:avLst/>
          </a:prstGeom>
          <a:noFill/>
          <a:ln w="6350">
            <a:solidFill>
              <a:srgbClr val="DD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4937760" y="1755648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5"/>
          <p:cNvSpPr/>
          <p:nvPr/>
        </p:nvSpPr>
        <p:spPr>
          <a:xfrm>
            <a:off x="5102352" y="172821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(Advanced)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937760" y="2093976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7"/>
          <p:cNvSpPr/>
          <p:nvPr/>
        </p:nvSpPr>
        <p:spPr>
          <a:xfrm>
            <a:off x="5102352" y="206654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937760" y="2432304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29"/>
          <p:cNvSpPr/>
          <p:nvPr/>
        </p:nvSpPr>
        <p:spPr>
          <a:xfrm>
            <a:off x="5102352" y="24048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 (FEA / Structural)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903720" y="1755648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1"/>
          <p:cNvSpPr/>
          <p:nvPr/>
        </p:nvSpPr>
        <p:spPr>
          <a:xfrm>
            <a:off x="7059168" y="172821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&amp; Simulink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903720" y="2093976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3"/>
          <p:cNvSpPr/>
          <p:nvPr/>
        </p:nvSpPr>
        <p:spPr>
          <a:xfrm>
            <a:off x="7059168" y="206654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V-REP / CoppeliaSim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903720" y="2432304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5"/>
          <p:cNvSpPr/>
          <p:nvPr/>
        </p:nvSpPr>
        <p:spPr>
          <a:xfrm>
            <a:off x="7059168" y="24048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(AR / VR)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320040" y="3054096"/>
            <a:ext cx="416052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37"/>
          <p:cNvSpPr/>
          <p:nvPr/>
        </p:nvSpPr>
        <p:spPr>
          <a:xfrm>
            <a:off x="320040" y="3054096"/>
            <a:ext cx="54864" cy="1755648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145536"/>
            <a:ext cx="347472" cy="34747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14400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484632" y="3557016"/>
            <a:ext cx="3840480" cy="0"/>
          </a:xfrm>
          <a:prstGeom prst="line">
            <a:avLst/>
          </a:prstGeom>
          <a:noFill/>
          <a:ln w="6350">
            <a:solidFill>
              <a:srgbClr val="DD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0"/>
          <p:cNvSpPr/>
          <p:nvPr/>
        </p:nvSpPr>
        <p:spPr>
          <a:xfrm>
            <a:off x="502920" y="3675888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1"/>
          <p:cNvSpPr/>
          <p:nvPr/>
        </p:nvSpPr>
        <p:spPr>
          <a:xfrm>
            <a:off x="667512" y="364845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(Primary)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502920" y="4014216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3"/>
          <p:cNvSpPr/>
          <p:nvPr/>
        </p:nvSpPr>
        <p:spPr>
          <a:xfrm>
            <a:off x="667512" y="398678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502920" y="4352544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5"/>
          <p:cNvSpPr/>
          <p:nvPr/>
        </p:nvSpPr>
        <p:spPr>
          <a:xfrm>
            <a:off x="667512" y="43251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 / Keras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2468880" y="3675888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47"/>
          <p:cNvSpPr/>
          <p:nvPr/>
        </p:nvSpPr>
        <p:spPr>
          <a:xfrm>
            <a:off x="2624328" y="364845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2468880" y="4014216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49"/>
          <p:cNvSpPr/>
          <p:nvPr/>
        </p:nvSpPr>
        <p:spPr>
          <a:xfrm>
            <a:off x="2624328" y="398678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Matplotlib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2468880" y="4352544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1"/>
          <p:cNvSpPr/>
          <p:nvPr/>
        </p:nvSpPr>
        <p:spPr>
          <a:xfrm>
            <a:off x="2624328" y="43251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 (Arduino)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4754880" y="3054096"/>
            <a:ext cx="416052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9" name="Shape 53"/>
          <p:cNvSpPr/>
          <p:nvPr/>
        </p:nvSpPr>
        <p:spPr>
          <a:xfrm>
            <a:off x="4754880" y="3054096"/>
            <a:ext cx="54864" cy="1755648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145536"/>
            <a:ext cx="347472" cy="347472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5349240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Specializations</a:t>
            </a:r>
            <a:endParaRPr lang="en-US" sz="1200" dirty="0"/>
          </a:p>
        </p:txBody>
      </p:sp>
      <p:sp>
        <p:nvSpPr>
          <p:cNvPr id="62" name="Shape 55"/>
          <p:cNvSpPr/>
          <p:nvPr/>
        </p:nvSpPr>
        <p:spPr>
          <a:xfrm>
            <a:off x="4919472" y="3557016"/>
            <a:ext cx="3840480" cy="0"/>
          </a:xfrm>
          <a:prstGeom prst="line">
            <a:avLst/>
          </a:prstGeom>
          <a:noFill/>
          <a:ln w="6350">
            <a:solidFill>
              <a:srgbClr val="DDD9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56"/>
          <p:cNvSpPr/>
          <p:nvPr/>
        </p:nvSpPr>
        <p:spPr>
          <a:xfrm>
            <a:off x="4937760" y="3675888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Text 57"/>
          <p:cNvSpPr/>
          <p:nvPr/>
        </p:nvSpPr>
        <p:spPr>
          <a:xfrm>
            <a:off x="5102352" y="364845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&amp; Path Planning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4937760" y="4014216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Text 59"/>
          <p:cNvSpPr/>
          <p:nvPr/>
        </p:nvSpPr>
        <p:spPr>
          <a:xfrm>
            <a:off x="5102352" y="398678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/ OCR</a:t>
            </a:r>
            <a:endParaRPr lang="en-US" sz="1000" dirty="0"/>
          </a:p>
        </p:txBody>
      </p:sp>
      <p:sp>
        <p:nvSpPr>
          <p:cNvPr id="67" name="Shape 60"/>
          <p:cNvSpPr/>
          <p:nvPr/>
        </p:nvSpPr>
        <p:spPr>
          <a:xfrm>
            <a:off x="4937760" y="4352544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Text 61"/>
          <p:cNvSpPr/>
          <p:nvPr/>
        </p:nvSpPr>
        <p:spPr>
          <a:xfrm>
            <a:off x="5102352" y="43251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6903720" y="3675888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Text 63"/>
          <p:cNvSpPr/>
          <p:nvPr/>
        </p:nvSpPr>
        <p:spPr>
          <a:xfrm>
            <a:off x="7059168" y="364845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Exoskeleton Design</a:t>
            </a:r>
            <a:endParaRPr lang="en-US" sz="1000" dirty="0"/>
          </a:p>
        </p:txBody>
      </p:sp>
      <p:sp>
        <p:nvSpPr>
          <p:cNvPr id="71" name="Shape 64"/>
          <p:cNvSpPr/>
          <p:nvPr/>
        </p:nvSpPr>
        <p:spPr>
          <a:xfrm>
            <a:off x="6903720" y="4014216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Text 65"/>
          <p:cNvSpPr/>
          <p:nvPr/>
        </p:nvSpPr>
        <p:spPr>
          <a:xfrm>
            <a:off x="7059168" y="398678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Robotics</a:t>
            </a:r>
            <a:endParaRPr lang="en-US" sz="1000" dirty="0"/>
          </a:p>
        </p:txBody>
      </p:sp>
      <p:sp>
        <p:nvSpPr>
          <p:cNvPr id="73" name="Shape 66"/>
          <p:cNvSpPr/>
          <p:nvPr/>
        </p:nvSpPr>
        <p:spPr>
          <a:xfrm>
            <a:off x="6903720" y="4352544"/>
            <a:ext cx="91440" cy="91440"/>
          </a:xfrm>
          <a:prstGeom prst="ellipse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Text 67"/>
          <p:cNvSpPr/>
          <p:nvPr/>
        </p:nvSpPr>
        <p:spPr>
          <a:xfrm>
            <a:off x="7059168" y="43251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Pneumatics (SMC)</a:t>
            </a:r>
            <a:endParaRPr lang="en-US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457200" y="68580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Core software, CAD, programming and specialization areas.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960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0467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Training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1097280"/>
            <a:ext cx="2743200" cy="1755648"/>
          </a:xfrm>
          <a:prstGeom prst="rect">
            <a:avLst/>
          </a:prstGeom>
          <a:solidFill>
            <a:srgbClr val="F2EF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320040" y="1097280"/>
            <a:ext cx="54864" cy="1755648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2240280" y="1207008"/>
            <a:ext cx="713232" cy="201168"/>
          </a:xfrm>
          <a:prstGeom prst="rect">
            <a:avLst/>
          </a:prstGeom>
          <a:solidFill>
            <a:srgbClr val="2E7D32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2240280" y="121615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20700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" y="1691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for Beginners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" y="1993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Basics, Motion &amp; OpenCV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84632" y="254203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46120" y="1097280"/>
            <a:ext cx="2743200" cy="1755648"/>
          </a:xfrm>
          <a:prstGeom prst="rect">
            <a:avLst/>
          </a:prstGeom>
          <a:solidFill>
            <a:srgbClr val="F2EF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3246120" y="1097280"/>
            <a:ext cx="54864" cy="1755648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5166360" y="1207008"/>
            <a:ext cx="713232" cy="201168"/>
          </a:xfrm>
          <a:prstGeom prst="rect">
            <a:avLst/>
          </a:prstGeom>
          <a:solidFill>
            <a:srgbClr val="2E7D32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5166360" y="121615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20700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10712" y="1691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2.0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410712" y="1993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AI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410712" y="254203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172200" y="1097280"/>
            <a:ext cx="2743200" cy="1755648"/>
          </a:xfrm>
          <a:prstGeom prst="rect">
            <a:avLst/>
          </a:prstGeom>
          <a:solidFill>
            <a:srgbClr val="F2EF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6172200" y="1097280"/>
            <a:ext cx="54864" cy="1755648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8092440" y="1207008"/>
            <a:ext cx="713232" cy="201168"/>
          </a:xfrm>
          <a:prstGeom prst="rect">
            <a:avLst/>
          </a:prstGeom>
          <a:solidFill>
            <a:srgbClr val="2E7D32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8092440" y="121615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120700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36792" y="1691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AI &amp; Python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336792" y="1993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Basics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336792" y="254203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20040" y="3017520"/>
            <a:ext cx="2743200" cy="1755648"/>
          </a:xfrm>
          <a:prstGeom prst="rect">
            <a:avLst/>
          </a:prstGeom>
          <a:solidFill>
            <a:srgbClr val="F2EF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26"/>
          <p:cNvSpPr/>
          <p:nvPr/>
        </p:nvSpPr>
        <p:spPr>
          <a:xfrm>
            <a:off x="320040" y="3017520"/>
            <a:ext cx="54864" cy="1755648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27"/>
          <p:cNvSpPr/>
          <p:nvPr/>
        </p:nvSpPr>
        <p:spPr>
          <a:xfrm>
            <a:off x="2240280" y="3127248"/>
            <a:ext cx="713232" cy="201168"/>
          </a:xfrm>
          <a:prstGeom prst="rect">
            <a:avLst/>
          </a:prstGeom>
          <a:solidFill>
            <a:srgbClr val="2E7D32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28"/>
          <p:cNvSpPr/>
          <p:nvPr/>
        </p:nvSpPr>
        <p:spPr>
          <a:xfrm>
            <a:off x="2240280" y="313639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127248"/>
            <a:ext cx="411480" cy="4114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4632" y="3611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&amp; Simulink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84632" y="39136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Onramp Training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484632" y="44622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MathWorks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246120" y="3017520"/>
            <a:ext cx="2743200" cy="1755648"/>
          </a:xfrm>
          <a:prstGeom prst="rect">
            <a:avLst/>
          </a:prstGeom>
          <a:solidFill>
            <a:srgbClr val="F2EF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3"/>
          <p:cNvSpPr/>
          <p:nvPr/>
        </p:nvSpPr>
        <p:spPr>
          <a:xfrm>
            <a:off x="3246120" y="3017520"/>
            <a:ext cx="54864" cy="1755648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4"/>
          <p:cNvSpPr/>
          <p:nvPr/>
        </p:nvSpPr>
        <p:spPr>
          <a:xfrm>
            <a:off x="5166360" y="3127248"/>
            <a:ext cx="713232" cy="201168"/>
          </a:xfrm>
          <a:prstGeom prst="rect">
            <a:avLst/>
          </a:prstGeom>
          <a:solidFill>
            <a:srgbClr val="2E7D32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35"/>
          <p:cNvSpPr/>
          <p:nvPr/>
        </p:nvSpPr>
        <p:spPr>
          <a:xfrm>
            <a:off x="5166360" y="313639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3127248"/>
            <a:ext cx="411480" cy="4114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410712" y="3611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SMC Pneumatics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3410712" y="39136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Intensive Training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3410712" y="44622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SMC Corporation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6172200" y="3017520"/>
            <a:ext cx="2743200" cy="1755648"/>
          </a:xfrm>
          <a:prstGeom prst="rect">
            <a:avLst/>
          </a:prstGeom>
          <a:solidFill>
            <a:srgbClr val="F2EF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0"/>
          <p:cNvSpPr/>
          <p:nvPr/>
        </p:nvSpPr>
        <p:spPr>
          <a:xfrm>
            <a:off x="6172200" y="3017520"/>
            <a:ext cx="54864" cy="1755648"/>
          </a:xfrm>
          <a:prstGeom prst="rect">
            <a:avLst/>
          </a:prstGeom>
          <a:solidFill>
            <a:srgbClr val="C989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1"/>
          <p:cNvSpPr/>
          <p:nvPr/>
        </p:nvSpPr>
        <p:spPr>
          <a:xfrm>
            <a:off x="8092440" y="3127248"/>
            <a:ext cx="713232" cy="201168"/>
          </a:xfrm>
          <a:prstGeom prst="rect">
            <a:avLst/>
          </a:prstGeom>
          <a:solidFill>
            <a:srgbClr val="C9892A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2"/>
          <p:cNvSpPr/>
          <p:nvPr/>
        </p:nvSpPr>
        <p:spPr>
          <a:xfrm>
            <a:off x="8092440" y="313639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3127248"/>
            <a:ext cx="411480" cy="41148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336792" y="3611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53" name="Text 44"/>
          <p:cNvSpPr/>
          <p:nvPr/>
        </p:nvSpPr>
        <p:spPr>
          <a:xfrm>
            <a:off x="6336792" y="39136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</a:t>
            </a:r>
            <a:endParaRPr lang="en-US" sz="1050" dirty="0"/>
          </a:p>
        </p:txBody>
      </p:sp>
      <p:sp>
        <p:nvSpPr>
          <p:cNvPr id="54" name="Text 45"/>
          <p:cNvSpPr/>
          <p:nvPr/>
        </p:nvSpPr>
        <p:spPr>
          <a:xfrm>
            <a:off x="6336792" y="446227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5" name="TextBox 54"/>
          <p:cNvSpPr txBox="1"/>
          <p:nvPr/>
        </p:nvSpPr>
        <p:spPr>
          <a:xfrm>
            <a:off x="457200" y="649224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Courses and training supporting robotics, AI and simulation.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960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REHAB ROBOT  ·  DEEP DIVE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Algorithm: Knee Osteosis Detection</a:t>
            </a:r>
            <a:endParaRPr lang="en-US" sz="2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0058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57784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SUMMARY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298448"/>
          <a:ext cx="3246120" cy="17068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LeakyReLU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LeakyReLU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3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577840" y="3703320"/>
            <a:ext cx="324612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5577840" y="3703320"/>
            <a:ext cx="54864" cy="82296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7"/>
          <p:cNvSpPr/>
          <p:nvPr/>
        </p:nvSpPr>
        <p:spPr>
          <a:xfrm>
            <a:off x="5715000" y="3749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ReLU with 100 epochs achieved 56% accuracy across 5 severity classes (Normal, Doubtful, Mid, Moderate, Severe). Further gains possible with more training data.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960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Overview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20040" y="2606040"/>
            <a:ext cx="27432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54864" cy="105156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84632" y="2697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84632" y="32278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</a:rPr>
              <a:t>Robotics Projects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606040"/>
            <a:ext cx="2743200" cy="1051560"/>
          </a:xfrm>
          <a:prstGeom prst="rect">
            <a:avLst/>
          </a:prstGeom>
          <a:solidFill>
            <a:srgbClr val="F2EF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3410712" y="2697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3410712" y="32278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72200" y="2606040"/>
            <a:ext cx="27432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172200" y="2606040"/>
            <a:ext cx="54864" cy="105156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336792" y="2697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336792" y="32278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Presented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" y="3840480"/>
            <a:ext cx="2743200" cy="1051560"/>
          </a:xfrm>
          <a:prstGeom prst="rect">
            <a:avLst/>
          </a:prstGeom>
          <a:solidFill>
            <a:srgbClr val="F2EF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484632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484632" y="44622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840480"/>
            <a:ext cx="274320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3246120" y="3840480"/>
            <a:ext cx="54864" cy="105156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3410712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3410712" y="44622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172200" y="3840480"/>
            <a:ext cx="2743200" cy="1051560"/>
          </a:xfrm>
          <a:prstGeom prst="rect">
            <a:avLst/>
          </a:prstGeom>
          <a:solidFill>
            <a:srgbClr val="F2EF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6336792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6336792" y="44622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</a:rPr>
              <a:t>Patent Pending</a:t>
            </a:r>
            <a:endParaRPr lang="en-US" sz="1000" dirty="0"/>
          </a:p>
        </p:txBody>
      </p:sp>
      <p:sp>
        <p:nvSpPr>
          <p:cNvPr id="33" name="Rounded Rectangle 32"/>
          <p:cNvSpPr/>
          <p:nvPr/>
        </p:nvSpPr>
        <p:spPr>
          <a:xfrm>
            <a:off x="320040" y="9601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" y="9601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1078992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Calibri"/>
              </a:rPr>
              <a:t>Current Master’s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1353312"/>
            <a:ext cx="3429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Calibri"/>
              </a:rPr>
              <a:t>Master’s in Robotics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1709928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UNSW Sydney  ·  Australia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1956816"/>
            <a:ext cx="3429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Calibri"/>
              </a:rPr>
              <a:t>Focus: robotics, autonomous systems, ROS, navigation and manipulation.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7408" y="9601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407408" y="960120"/>
            <a:ext cx="64008" cy="1234440"/>
          </a:xfrm>
          <a:prstGeom prst="rect">
            <a:avLst/>
          </a:prstGeom>
          <a:solidFill>
            <a:srgbClr val="CC5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17720" y="1078992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C5527"/>
                </a:solidFill>
                <a:latin typeface="Calibri"/>
              </a:rPr>
              <a:t>Undergraduate Degree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1353312"/>
            <a:ext cx="3429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B.Tech — Mechatronics Engineering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1709928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334155"/>
                </a:solidFill>
                <a:latin typeface="Calibri"/>
              </a:rPr>
              <a:t>Hindustan Institute of Technology &amp; Sciences (HITS)  ·  Chennai, India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1956816"/>
            <a:ext cx="3429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Calibri"/>
              </a:rPr>
              <a:t>Foundation in mechanical, electronics, control systems and programming.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4C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5836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Ahamed Shaik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dirty="0">
                <a:solidFill>
                  <a:srgbClr val="94A3B8"/>
                </a:solidFill>
                <a:latin typeface="Calibri"/>
              </a:rPr>
              <a:t>UNSW Robotics Master’s Student · Open to robotics internships &amp; research roles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09344"/>
            <a:ext cx="5943600" cy="0"/>
          </a:xfrm>
          <a:prstGeom prst="line">
            <a:avLst/>
          </a:prstGeom>
          <a:noFill/>
          <a:ln w="19050">
            <a:solidFill>
              <a:srgbClr val="B84C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6217920" cy="566928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1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0391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sahil86469@gmail.com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275234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346704"/>
            <a:ext cx="6217920" cy="566928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3814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4655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linkedin.com/in/sahil-shaik-8bb309219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2670048"/>
            <a:ext cx="6217920" cy="566928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61488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2788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github.com/sahil86469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time.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E369673-7081-AC78-26CC-380683124B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04" y="22695"/>
            <a:ext cx="1360459" cy="155481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1120</Words>
  <Application>Microsoft Office PowerPoint</Application>
  <PresentationFormat>On-screen Show (16:9)</PresentationFormat>
  <Paragraphs>268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Robotics Portfolio — Sahil Ahamed Shaik</dc:title>
  <dc:subject>PptxGenJS Presentation</dc:subject>
  <dc:creator>Sahil Ahamed Shaik</dc:creator>
  <cp:lastModifiedBy>sahil shaik</cp:lastModifiedBy>
  <cp:revision>2</cp:revision>
  <dcterms:created xsi:type="dcterms:W3CDTF">2026-05-24T00:01:08Z</dcterms:created>
  <dcterms:modified xsi:type="dcterms:W3CDTF">2026-05-24T01:29:13Z</dcterms:modified>
</cp:coreProperties>
</file>